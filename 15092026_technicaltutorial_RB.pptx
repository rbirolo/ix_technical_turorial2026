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8" r:id="rId5"/>
    <p:sldId id="295" r:id="rId6"/>
    <p:sldId id="302" r:id="rId7"/>
    <p:sldId id="301" r:id="rId8"/>
    <p:sldId id="294" r:id="rId9"/>
    <p:sldId id="296" r:id="rId10"/>
    <p:sldId id="298" r:id="rId11"/>
    <p:sldId id="299" r:id="rId12"/>
    <p:sldId id="297" r:id="rId13"/>
    <p:sldId id="300" r:id="rId14"/>
    <p:sldId id="304" r:id="rId15"/>
    <p:sldId id="503" r:id="rId16"/>
    <p:sldId id="506" r:id="rId17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AEC"/>
    <a:srgbClr val="CDD8DD"/>
    <a:srgbClr val="9AB0BB"/>
    <a:srgbClr val="7DAB5E"/>
    <a:srgbClr val="205C85"/>
    <a:srgbClr val="4972B7"/>
    <a:srgbClr val="3F9ED7"/>
    <a:srgbClr val="DBDD9A"/>
    <a:srgbClr val="008D00"/>
    <a:srgbClr val="3EA9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9959B-0DEA-406F-877D-81CF6CC14735}" v="287" dt="2026-09-11T11:16:43.510"/>
    <p1510:client id="{CF2A2AC8-6155-FC49-9022-320202BD87FD}" v="1774" dt="2026-09-11T16:49:35.79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30"/>
  </p:normalViewPr>
  <p:slideViewPr>
    <p:cSldViewPr snapToGrid="0">
      <p:cViewPr>
        <p:scale>
          <a:sx n="90" d="100"/>
          <a:sy n="90" d="100"/>
        </p:scale>
        <p:origin x="1672" y="6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43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26487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66897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14C7637-5E21-BDDB-D675-718E58535D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57B56D4-851E-7242-EAB1-CD5B53E8B9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25FF1F4-36F0-A184-7B99-8F5F4A49C8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198715B-A90B-9B06-A055-401A84B092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D2E04D5-A2EE-135D-A8C9-6E695F9BCF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8CE0DC1F-799B-3F7A-3A71-D20337A47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8EAEE22-055F-6869-D50D-D9C8C9082F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ADAC67C-850F-96D3-0962-09E1B4CC3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83187A0-2E68-170D-55EF-0FA20E7A75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6288291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8F30683-44FB-4995-47C3-43A7DE5523C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A24E86-91AA-6A9B-314A-752B77481A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79B37A-F4A9-2DDA-3FC3-9FC52384A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3DABC58-132F-2F2F-EB5B-78B30A3D4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FE51362-844C-B4F1-1A83-A287F312E9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0F57AAB-C462-6A3A-9686-048341EA78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A0D371A-82CE-1829-AA32-FB790C7A60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A0DE082-4D8F-8158-56B4-AF85C4A0FA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30CFB56-59E9-38CF-519A-B532B3254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FB5434B5-DD4C-F988-6EBA-085A7DD49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1E34748E-CBEF-26E7-AB9F-696FA5D5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DF2DBC8-2D33-BD84-A330-691C8B9797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99913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3996D-125E-4908-B6F0-50835E42F7CC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FE5E2-074F-4C32-9E7C-7D1CD6D9C46F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4A389-F2F3-48BD-8637-714D04FBE282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20F845-3051-4964-8810-4D6B9CEE5602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67850-4A32-48D9-B65E-F551EAA4CC04}" type="datetime1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2B7-F8E8-4065-A21D-90A8A970CBC5}" type="datetime1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5E19-1301-44C0-8F27-8B4339EFA248}" type="datetime1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3E122-4495-44BA-A4C1-8BE76937A80D}" type="datetime1">
              <a:rPr lang="en-GB" smtClean="0"/>
              <a:t>11/09/2026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DC06-C956-40EB-B7C2-5D24D2134868}" type="datetime1">
              <a:rPr lang="en-GB" smtClean="0"/>
              <a:t>11/09/2026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2CD8-4874-4E1A-99A5-6A33EAEAD984}" type="datetime1">
              <a:rPr lang="en-GB" smtClean="0"/>
              <a:t>11/09/2026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23BCF-757C-48E4-AB43-882F0A78532C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683EC-1E11-45E0-886A-851228B0A8DF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D4AE-58D3-41BB-8060-5ADF87B91618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5DBF-6AEB-4550-BEA6-FE6CE3862FB9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2C9E-B7BA-48F8-8C95-4A603CB4A0B6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E69-4493-469E-9F6F-0F2C42DABB23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7A56-2FF9-491E-814D-0A900175F8E1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82C8-03A6-4D1C-870A-BE728679E492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533C-450F-4C7A-8669-D1C1D442E9DA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B67106-7FE2-4B8D-9827-B242124A96D0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A93-6E2C-479B-B487-61050B029E0E}" type="datetime1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69607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FBB15-756E-4C9B-BAD5-65B8245F1711}" type="datetime1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25788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9664A-9D95-4BFD-9EE2-ED03761B5D93}" type="datetime1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80361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16F8D3-3840-4002-A902-CA5665F1877D}" type="datetime1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609BCD-EF9A-DF89-AAD2-167090C57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6E35-447D-4F3F-B312-D5A5B297F989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53B4-E62F-43A9-95E1-1281FC369A0C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C65B-45F4-494F-85C9-F650D9479B4E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B683-185E-47F3-8B62-B7D69EB8BD5B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6529D-9412-41C5-A6C2-C931A11B8D57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6683B-1327-4EC5-BC3D-F1BC9929DF1D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0F3C-9559-4D72-9EA0-55DADACB2573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B1C3-5A45-497F-BCC7-EC2CAE0BF41E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9E16-EEE1-449A-9FC3-EC3A45AD75A9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5C08-4378-4C2A-80FC-85BE4CC22ED2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9A96-AD1A-4D71-9FB8-4FC24821C6DB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04DA1-1F50-4046-AB99-973BFEA76F20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D7C-325E-46DC-8928-255FD373C96D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20609-BB11-4BF4-8697-59822653EB4F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4F2A2-6868-407F-8098-72A30A0A7D4F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DDFD2-A19B-4FDD-86ED-B185BF53816E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818C7-E49D-46B4-A26D-8654FF918181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4B4E-1431-4713-BED5-A43C1F5596C4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148999050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658548261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1169666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F1E4B3C-5470-00F2-B8CB-BB4906CF43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D7A316D-6FA6-8EBE-A7B4-43071E70A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11C06CEA-028D-9197-2DEF-67878595AE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DEA93E8D-A827-0EF8-FC25-4EDF7B194E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F359F29-A6DD-FD4C-F807-701DEA41ED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68BF6B-AEBB-4CAA-244D-9EBE80B9A1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C60AC05-547F-FA65-604E-4ED4912EA9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632E58E-1400-1E6E-BB60-7A9B794F4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D65D159-581D-F29B-BBD4-C1C5BACCE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A87AD45-2D2F-D96C-947C-BAE35BFEBE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1EDC35F-4F2D-B2A7-1ECD-0CF19D1AD2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97F4776F-4E5E-13DF-F11A-A6808FFFC9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A993AE1-6A24-5C17-7FE2-A16589D9C4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A87F8EF-CDAD-15A2-A361-88921E1CA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E90186DB-2300-A8AA-8FAD-2C609649A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1922286-E237-1114-3A54-E1731611D6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1B4DA78C-0EF6-B05D-F2D2-EFEDA343E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A00F92FE-6EB2-0D0E-BFC9-559AD1E7A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2161258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761819100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40818450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59517005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878288"/>
            <a:ext cx="5606484" cy="652688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9CC1682-CCAA-5EE1-585E-F7C4434F1C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70403FB-3386-A0FE-3E9D-A2925EF0E8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2CDC1DE-179E-04D4-B493-BF069DE85D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9A68412-C85B-6332-8B98-2635795BB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9ECB875-34C4-65FF-6CDA-1356F6BC76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3B5B848-7A8D-931B-DFC2-C5B37B8DB6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61AABDF-9542-DBC6-6388-ABE2035BE7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57C10C3-A39D-D1F6-3C50-91EC9A5E76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E4DD9B4A-92B0-0B9A-755B-A13B032A85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038C-7537-45C4-BC31-19A4CC76608A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81825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E25-142E-4760-8666-599A78D60753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01506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2C0C-5320-426A-9514-B5BB83F873AE}" type="datetime1">
              <a:rPr lang="en-GB" smtClean="0"/>
              <a:t>11/09/2026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909866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63C1-8B3D-4242-8BBB-2FEB2725DAC9}" type="datetime1">
              <a:rPr lang="en-GB" smtClean="0"/>
              <a:t>11/09/2026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464979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0E4-EC35-42CE-9A21-653C43AB9D97}" type="datetime1">
              <a:rPr lang="en-GB" smtClean="0"/>
              <a:t>11/09/2026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168227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F983-3AD9-45E2-9CD5-5871D2EB91F5}" type="datetime1">
              <a:rPr lang="en-GB" smtClean="0"/>
              <a:t>11/09/2026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11291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chemeClr val="accent1"/>
                </a:solidFill>
              </a:defRPr>
            </a:lvl1pPr>
          </a:lstStyle>
          <a:p>
            <a:fld id="{644011B4-2383-4A6D-84D7-C0A7DC378FD8}" type="datetime1">
              <a:rPr lang="en-GB" smtClean="0"/>
              <a:t>11/09/2026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chemeClr val="accent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>
                <a:solidFill>
                  <a:schemeClr val="accent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9" r:id="rId2"/>
    <p:sldLayoutId id="2147483680" r:id="rId3"/>
    <p:sldLayoutId id="2147483649" r:id="rId4"/>
    <p:sldLayoutId id="2147483657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667" r:id="rId26"/>
    <p:sldLayoutId id="2147483693" r:id="rId27"/>
    <p:sldLayoutId id="2147483694" r:id="rId28"/>
    <p:sldLayoutId id="2147483666" r:id="rId29"/>
    <p:sldLayoutId id="2147483661" r:id="rId30"/>
    <p:sldLayoutId id="2147483695" r:id="rId31"/>
    <p:sldLayoutId id="2147483696" r:id="rId32"/>
    <p:sldLayoutId id="2147483669" r:id="rId33"/>
    <p:sldLayoutId id="2147483697" r:id="rId34"/>
    <p:sldLayoutId id="2147483698" r:id="rId35"/>
    <p:sldLayoutId id="2147483678" r:id="rId36"/>
    <p:sldLayoutId id="2147483699" r:id="rId37"/>
    <p:sldLayoutId id="2147483700" r:id="rId38"/>
    <p:sldLayoutId id="2147483662" r:id="rId39"/>
    <p:sldLayoutId id="2147483701" r:id="rId40"/>
    <p:sldLayoutId id="2147483702" r:id="rId41"/>
    <p:sldLayoutId id="2147483663" r:id="rId42"/>
    <p:sldLayoutId id="2147483703" r:id="rId43"/>
    <p:sldLayoutId id="2147483704" r:id="rId44"/>
    <p:sldLayoutId id="2147483664" r:id="rId45"/>
    <p:sldLayoutId id="2147483705" r:id="rId46"/>
    <p:sldLayoutId id="2147483706" r:id="rId47"/>
    <p:sldLayoutId id="2147483665" r:id="rId48"/>
    <p:sldLayoutId id="2147483671" r:id="rId49"/>
    <p:sldLayoutId id="2147483707" r:id="rId50"/>
    <p:sldLayoutId id="2147483708" r:id="rId51"/>
    <p:sldLayoutId id="2147483670" r:id="rId52"/>
    <p:sldLayoutId id="2147483672" r:id="rId53"/>
    <p:sldLayoutId id="2147483674" r:id="rId54"/>
    <p:sldLayoutId id="2147483709" r:id="rId55"/>
    <p:sldLayoutId id="2147483710" r:id="rId56"/>
    <p:sldLayoutId id="2147483673" r:id="rId57"/>
    <p:sldLayoutId id="2147483654" r:id="rId58"/>
    <p:sldLayoutId id="2147483711" r:id="rId59"/>
    <p:sldLayoutId id="2147483712" r:id="rId60"/>
    <p:sldLayoutId id="2147483655" r:id="rId61"/>
    <p:sldLayoutId id="2147483713" r:id="rId62"/>
    <p:sldLayoutId id="2147483714" r:id="rId6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06">
          <p15:clr>
            <a:srgbClr val="F26B43"/>
          </p15:clr>
        </p15:guide>
        <p15:guide id="4" pos="7475">
          <p15:clr>
            <a:srgbClr val="F26B43"/>
          </p15:clr>
        </p15:guide>
        <p15:guide id="5" orient="horz" pos="207">
          <p15:clr>
            <a:srgbClr val="F26B43"/>
          </p15:clr>
        </p15:guide>
        <p15:guide id="6" orient="horz" pos="4114">
          <p15:clr>
            <a:srgbClr val="F26B43"/>
          </p15:clr>
        </p15:guide>
        <p15:guide id="7" orient="horz" pos="3944">
          <p15:clr>
            <a:srgbClr val="F26B43"/>
          </p15:clr>
        </p15:guide>
        <p15:guide id="8" orient="horz" pos="879">
          <p15:clr>
            <a:srgbClr val="F26B43"/>
          </p15:clr>
        </p15:guide>
        <p15:guide id="9" pos="3723">
          <p15:clr>
            <a:srgbClr val="F26B43"/>
          </p15:clr>
        </p15:guide>
        <p15:guide id="10" pos="395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CC57-32B4-5651-C726-27956387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80337-D626-AC7B-5E8D-3144BB486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51070"/>
            <a:ext cx="9144000" cy="1847942"/>
          </a:xfrm>
        </p:spPr>
        <p:txBody>
          <a:bodyPr/>
          <a:lstStyle/>
          <a:p>
            <a:r>
              <a:rPr lang="en-GB" sz="5400"/>
              <a:t>Multitask and Transfer learning for peptide properties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FCD95-DD6E-BAAA-DD32-3D1E187DA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3200"/>
              <a:t>Technical Tutorial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ADEF3F-453F-A867-067C-B77BAD4676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Rebecca Birolo</a:t>
            </a:r>
          </a:p>
          <a:p>
            <a:r>
              <a:rPr lang="en-US"/>
              <a:t>15/09/2026</a:t>
            </a:r>
          </a:p>
        </p:txBody>
      </p:sp>
    </p:spTree>
    <p:extLst>
      <p:ext uri="{BB962C8B-B14F-4D97-AF65-F5344CB8AC3E}">
        <p14:creationId xmlns:p14="http://schemas.microsoft.com/office/powerpoint/2010/main" val="303511597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A2A63-62C1-3917-BB42-DEA706BE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Peptide properties prediction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59D3EC0-E4FA-8A05-3985-B1449734A88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/>
              <a:t>Representations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3588D144-977F-D8DC-A8E1-7421304B7A7D}"/>
              </a:ext>
            </a:extLst>
          </p:cNvPr>
          <p:cNvSpPr>
            <a:spLocks noChangeAspect="1"/>
          </p:cNvSpPr>
          <p:nvPr/>
        </p:nvSpPr>
        <p:spPr>
          <a:xfrm>
            <a:off x="3828389" y="1071417"/>
            <a:ext cx="7973368" cy="187929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rgbClr val="678ED9"/>
                </a:solidFill>
                <a:latin typeface="Arial Narrow" panose="020B0606020202030204" pitchFamily="34" charset="0"/>
                <a:cs typeface="Bai Jamjuree" pitchFamily="2" charset="-34"/>
              </a:rPr>
              <a:t>F  </a:t>
            </a:r>
            <a:r>
              <a:rPr lang="en-US" sz="2000">
                <a:solidFill>
                  <a:srgbClr val="99CC4A"/>
                </a:solidFill>
                <a:latin typeface="Arial Narrow" panose="020B0606020202030204" pitchFamily="34" charset="0"/>
                <a:cs typeface="Bai Jamjuree" pitchFamily="2" charset="-34"/>
              </a:rPr>
              <a:t>M  </a:t>
            </a:r>
            <a:r>
              <a:rPr lang="en-US" sz="2000">
                <a:solidFill>
                  <a:srgbClr val="AD2B4A"/>
                </a:solidFill>
                <a:latin typeface="Arial Narrow" panose="020B0606020202030204" pitchFamily="34" charset="0"/>
                <a:cs typeface="Bai Jamjuree" pitchFamily="2" charset="-34"/>
              </a:rPr>
              <a:t>L</a:t>
            </a:r>
          </a:p>
          <a:p>
            <a:r>
              <a:rPr lang="en-US" sz="2000">
                <a:solidFill>
                  <a:srgbClr val="678ED9"/>
                </a:solidFill>
                <a:latin typeface="Arial Narrow" panose="020B0606020202030204" pitchFamily="34" charset="0"/>
                <a:cs typeface="Bai Jamjuree" pitchFamily="2" charset="-34"/>
              </a:rPr>
              <a:t>N[C@@H](Cc1ccccc1)C(=O)</a:t>
            </a:r>
            <a:r>
              <a:rPr lang="en-US" sz="2000">
                <a:solidFill>
                  <a:srgbClr val="99CC4A"/>
                </a:solidFill>
                <a:latin typeface="Arial Narrow" panose="020B0606020202030204" pitchFamily="34" charset="0"/>
                <a:cs typeface="Bai Jamjuree" pitchFamily="2" charset="-34"/>
              </a:rPr>
              <a:t>N[C@@H](CCSC)C(=O)</a:t>
            </a:r>
            <a:r>
              <a:rPr lang="en-US" sz="2000">
                <a:solidFill>
                  <a:srgbClr val="AD2B4A"/>
                </a:solidFill>
                <a:latin typeface="Arial Narrow" panose="020B0606020202030204" pitchFamily="34" charset="0"/>
                <a:cs typeface="Bai Jamjuree" pitchFamily="2" charset="-34"/>
              </a:rPr>
              <a:t>N[C@@H](CC(C)C)C(=O)O</a:t>
            </a:r>
          </a:p>
        </p:txBody>
      </p:sp>
      <p:pic>
        <p:nvPicPr>
          <p:cNvPr id="433" name="Graphic 432">
            <a:extLst>
              <a:ext uri="{FF2B5EF4-FFF2-40B4-BE49-F238E27FC236}">
                <a16:creationId xmlns:a16="http://schemas.microsoft.com/office/drawing/2014/main" id="{BB1942DD-32CE-95EE-283E-C08AD280AB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0243" y="1416576"/>
            <a:ext cx="2784622" cy="176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3664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4C411-947A-D49A-5F05-37879D7F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6166378-FD15-9E79-2755-A23774BB0B7D}"/>
              </a:ext>
            </a:extLst>
          </p:cNvPr>
          <p:cNvSpPr/>
          <p:nvPr/>
        </p:nvSpPr>
        <p:spPr>
          <a:xfrm>
            <a:off x="115945" y="3702781"/>
            <a:ext cx="2830806" cy="2658005"/>
          </a:xfrm>
          <a:prstGeom prst="rect">
            <a:avLst/>
          </a:prstGeom>
          <a:solidFill>
            <a:srgbClr val="183B57"/>
          </a:solidFill>
          <a:ln>
            <a:solidFill>
              <a:srgbClr val="183B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pic>
        <p:nvPicPr>
          <p:cNvPr id="431" name="Graphic 430">
            <a:extLst>
              <a:ext uri="{FF2B5EF4-FFF2-40B4-BE49-F238E27FC236}">
                <a16:creationId xmlns:a16="http://schemas.microsoft.com/office/drawing/2014/main" id="{4784E847-DD88-0EC0-1612-E0D0D14C98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92" y="1039817"/>
            <a:ext cx="3177097" cy="23857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F9EFB7-DA64-0696-0818-E15ABCAF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Peptide properties prediction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7BA8214-9C45-55C6-B7B7-1A202994101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/>
              <a:t>Representations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236ECB5-1825-149B-07F7-CCECC04E7FB4}"/>
              </a:ext>
            </a:extLst>
          </p:cNvPr>
          <p:cNvSpPr>
            <a:spLocks noChangeAspect="1"/>
          </p:cNvSpPr>
          <p:nvPr/>
        </p:nvSpPr>
        <p:spPr>
          <a:xfrm>
            <a:off x="3828389" y="1071417"/>
            <a:ext cx="7973368" cy="187929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rgbClr val="678ED9"/>
                </a:solidFill>
                <a:latin typeface="Arial Narrow" panose="020B0606020202030204" pitchFamily="34" charset="0"/>
                <a:cs typeface="Bai Jamjuree" pitchFamily="2" charset="-34"/>
              </a:rPr>
              <a:t>F  </a:t>
            </a:r>
            <a:r>
              <a:rPr lang="en-US" sz="2000">
                <a:solidFill>
                  <a:srgbClr val="99CC4A"/>
                </a:solidFill>
                <a:latin typeface="Arial Narrow" panose="020B0606020202030204" pitchFamily="34" charset="0"/>
                <a:cs typeface="Bai Jamjuree" pitchFamily="2" charset="-34"/>
              </a:rPr>
              <a:t>M  </a:t>
            </a:r>
            <a:r>
              <a:rPr lang="en-US" sz="2000">
                <a:solidFill>
                  <a:srgbClr val="AD2B4A"/>
                </a:solidFill>
                <a:latin typeface="Arial Narrow" panose="020B0606020202030204" pitchFamily="34" charset="0"/>
                <a:cs typeface="Bai Jamjuree" pitchFamily="2" charset="-34"/>
              </a:rPr>
              <a:t>L</a:t>
            </a:r>
          </a:p>
          <a:p>
            <a:r>
              <a:rPr lang="en-US" sz="2000">
                <a:solidFill>
                  <a:srgbClr val="678ED9"/>
                </a:solidFill>
                <a:latin typeface="Arial Narrow" panose="020B0606020202030204" pitchFamily="34" charset="0"/>
                <a:cs typeface="Bai Jamjuree" pitchFamily="2" charset="-34"/>
              </a:rPr>
              <a:t>N[C@@H](Cc1ccccc1)C(=O)</a:t>
            </a:r>
            <a:r>
              <a:rPr lang="en-US" sz="2000">
                <a:solidFill>
                  <a:srgbClr val="99CC4A"/>
                </a:solidFill>
                <a:latin typeface="Arial Narrow" panose="020B0606020202030204" pitchFamily="34" charset="0"/>
                <a:cs typeface="Bai Jamjuree" pitchFamily="2" charset="-34"/>
              </a:rPr>
              <a:t>N[C@@H](CCSC)C(=O)</a:t>
            </a:r>
            <a:r>
              <a:rPr lang="en-US" sz="2000">
                <a:solidFill>
                  <a:srgbClr val="AD2B4A"/>
                </a:solidFill>
                <a:latin typeface="Arial Narrow" panose="020B0606020202030204" pitchFamily="34" charset="0"/>
                <a:cs typeface="Bai Jamjuree" pitchFamily="2" charset="-34"/>
              </a:rPr>
              <a:t>N[C@@H](CC(C)C)C(=O)O</a:t>
            </a:r>
          </a:p>
        </p:txBody>
      </p:sp>
      <p:pic>
        <p:nvPicPr>
          <p:cNvPr id="3" name="Immagine 1037">
            <a:extLst>
              <a:ext uri="{FF2B5EF4-FFF2-40B4-BE49-F238E27FC236}">
                <a16:creationId xmlns:a16="http://schemas.microsoft.com/office/drawing/2014/main" id="{17EA21D6-2DC5-04FD-1C89-32BB7CCFF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489" y="3608283"/>
            <a:ext cx="4611196" cy="2918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4A4165-140E-C654-C8D4-6B1E789CA313}"/>
              </a:ext>
            </a:extLst>
          </p:cNvPr>
          <p:cNvSpPr txBox="1"/>
          <p:nvPr/>
        </p:nvSpPr>
        <p:spPr>
          <a:xfrm>
            <a:off x="3218174" y="2746667"/>
            <a:ext cx="8914434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</a:pPr>
            <a:r>
              <a:rPr lang="en-GB">
                <a:latin typeface="Arial Narrow" panose="020B0606020202030204" pitchFamily="34" charset="0"/>
              </a:rPr>
              <a:t>CCc1cc(O)cc(C[C@H](N)C(=O)N[C@@H](CCSC(C)C)C(=O)N[C@@H](CC(C)N2CC=CC2)C(=O)OC)c1</a:t>
            </a:r>
            <a:endParaRPr lang="en-GB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5" name="Elemento grafico 1029">
            <a:extLst>
              <a:ext uri="{FF2B5EF4-FFF2-40B4-BE49-F238E27FC236}">
                <a16:creationId xmlns:a16="http://schemas.microsoft.com/office/drawing/2014/main" id="{F2AF0B7E-3ED1-67C1-081E-E7049639D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3122" y="3771414"/>
            <a:ext cx="2720752" cy="296136"/>
          </a:xfrm>
          <a:prstGeom prst="rect">
            <a:avLst/>
          </a:prstGeom>
        </p:spPr>
      </p:pic>
      <p:pic>
        <p:nvPicPr>
          <p:cNvPr id="6" name="Elemento grafico 1035">
            <a:extLst>
              <a:ext uri="{FF2B5EF4-FFF2-40B4-BE49-F238E27FC236}">
                <a16:creationId xmlns:a16="http://schemas.microsoft.com/office/drawing/2014/main" id="{3AFE66CC-06CA-ACEB-696A-218BD0190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98109" y="5067339"/>
            <a:ext cx="968091" cy="1169015"/>
          </a:xfrm>
          <a:prstGeom prst="rect">
            <a:avLst/>
          </a:prstGeom>
        </p:spPr>
      </p:pic>
      <p:pic>
        <p:nvPicPr>
          <p:cNvPr id="8" name="Elemento grafico 1033">
            <a:extLst>
              <a:ext uri="{FF2B5EF4-FFF2-40B4-BE49-F238E27FC236}">
                <a16:creationId xmlns:a16="http://schemas.microsoft.com/office/drawing/2014/main" id="{4F1958BB-5314-7AC0-6923-50EC77AE9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9984" y="5350468"/>
            <a:ext cx="2665404" cy="679767"/>
          </a:xfrm>
          <a:prstGeom prst="rect">
            <a:avLst/>
          </a:prstGeom>
        </p:spPr>
      </p:pic>
      <p:pic>
        <p:nvPicPr>
          <p:cNvPr id="9" name="Elemento grafico 1040">
            <a:extLst>
              <a:ext uri="{FF2B5EF4-FFF2-40B4-BE49-F238E27FC236}">
                <a16:creationId xmlns:a16="http://schemas.microsoft.com/office/drawing/2014/main" id="{1167E597-986C-D227-A24B-D12A3D7ABD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2327" y="4139941"/>
            <a:ext cx="2939827" cy="739580"/>
          </a:xfrm>
          <a:prstGeom prst="rect">
            <a:avLst/>
          </a:prstGeom>
        </p:spPr>
      </p:pic>
      <p:sp>
        <p:nvSpPr>
          <p:cNvPr id="10" name="TextBox 1090">
            <a:extLst>
              <a:ext uri="{FF2B5EF4-FFF2-40B4-BE49-F238E27FC236}">
                <a16:creationId xmlns:a16="http://schemas.microsoft.com/office/drawing/2014/main" id="{BC39B81A-4C71-7856-FCC1-6911BBED0F8E}"/>
              </a:ext>
            </a:extLst>
          </p:cNvPr>
          <p:cNvSpPr txBox="1"/>
          <p:nvPr/>
        </p:nvSpPr>
        <p:spPr>
          <a:xfrm>
            <a:off x="9446168" y="4077690"/>
            <a:ext cx="774659" cy="29613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 marL="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lang="en-GB" sz="1400">
                <a:solidFill>
                  <a:schemeClr val="tx1"/>
                </a:solidFill>
              </a:rPr>
              <a:t>canonical</a:t>
            </a:r>
          </a:p>
        </p:txBody>
      </p:sp>
      <p:sp>
        <p:nvSpPr>
          <p:cNvPr id="11" name="TextBox 1092">
            <a:extLst>
              <a:ext uri="{FF2B5EF4-FFF2-40B4-BE49-F238E27FC236}">
                <a16:creationId xmlns:a16="http://schemas.microsoft.com/office/drawing/2014/main" id="{93FE4E0B-5690-C6D4-8766-F055580A21A8}"/>
              </a:ext>
            </a:extLst>
          </p:cNvPr>
          <p:cNvSpPr txBox="1"/>
          <p:nvPr/>
        </p:nvSpPr>
        <p:spPr>
          <a:xfrm>
            <a:off x="9524910" y="4818858"/>
            <a:ext cx="774659" cy="29613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 marL="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lang="en-GB" sz="1400"/>
              <a:t>m</a:t>
            </a:r>
            <a:r>
              <a:rPr lang="en-GB" sz="1400">
                <a:solidFill>
                  <a:schemeClr val="tx1"/>
                </a:solidFill>
              </a:rPr>
              <a:t>odified</a:t>
            </a:r>
          </a:p>
        </p:txBody>
      </p:sp>
      <p:sp>
        <p:nvSpPr>
          <p:cNvPr id="12" name="TextBox 1096">
            <a:extLst>
              <a:ext uri="{FF2B5EF4-FFF2-40B4-BE49-F238E27FC236}">
                <a16:creationId xmlns:a16="http://schemas.microsoft.com/office/drawing/2014/main" id="{8E839F11-FD57-EFE0-CCDE-ECAED03B22E4}"/>
              </a:ext>
            </a:extLst>
          </p:cNvPr>
          <p:cNvSpPr txBox="1"/>
          <p:nvPr/>
        </p:nvSpPr>
        <p:spPr>
          <a:xfrm>
            <a:off x="8460002" y="5690351"/>
            <a:ext cx="774659" cy="29613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 marL="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7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0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36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3" algn="l" defTabSz="914353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lang="en-GB" sz="1400"/>
              <a:t>stapled</a:t>
            </a: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944242-951E-C28C-87CF-BDC23C996FF5}"/>
              </a:ext>
            </a:extLst>
          </p:cNvPr>
          <p:cNvSpPr txBox="1"/>
          <p:nvPr/>
        </p:nvSpPr>
        <p:spPr>
          <a:xfrm>
            <a:off x="325800" y="4426516"/>
            <a:ext cx="2156346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b="1">
                <a:solidFill>
                  <a:schemeClr val="bg1"/>
                </a:solidFill>
              </a:rPr>
              <a:t>Chemical modification </a:t>
            </a:r>
          </a:p>
          <a:p>
            <a:pPr algn="l">
              <a:lnSpc>
                <a:spcPct val="105000"/>
              </a:lnSpc>
            </a:pPr>
            <a:r>
              <a:rPr lang="en-GB" b="1">
                <a:solidFill>
                  <a:schemeClr val="bg1"/>
                </a:solidFill>
              </a:rPr>
              <a:t>for tuning</a:t>
            </a:r>
          </a:p>
          <a:p>
            <a:pPr algn="l">
              <a:lnSpc>
                <a:spcPct val="105000"/>
              </a:lnSpc>
            </a:pPr>
            <a:r>
              <a:rPr lang="en-GB" b="1">
                <a:solidFill>
                  <a:schemeClr val="bg1"/>
                </a:solidFill>
              </a:rPr>
              <a:t>developability</a:t>
            </a:r>
          </a:p>
          <a:p>
            <a:pPr algn="l">
              <a:lnSpc>
                <a:spcPct val="105000"/>
              </a:lnSpc>
            </a:pPr>
            <a:r>
              <a:rPr lang="en-GB" b="1">
                <a:solidFill>
                  <a:schemeClr val="bg1"/>
                </a:solidFill>
              </a:rPr>
              <a:t>properties</a:t>
            </a:r>
          </a:p>
        </p:txBody>
      </p:sp>
    </p:spTree>
    <p:extLst>
      <p:ext uri="{BB962C8B-B14F-4D97-AF65-F5344CB8AC3E}">
        <p14:creationId xmlns:p14="http://schemas.microsoft.com/office/powerpoint/2010/main" val="417993093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2EEE5-A9CB-4F4C-A6AC-3BAAC3AF9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Rectangle 428">
            <a:extLst>
              <a:ext uri="{FF2B5EF4-FFF2-40B4-BE49-F238E27FC236}">
                <a16:creationId xmlns:a16="http://schemas.microsoft.com/office/drawing/2014/main" id="{C64E280E-7A0F-A202-05ED-7E3B3BC548F2}"/>
              </a:ext>
            </a:extLst>
          </p:cNvPr>
          <p:cNvSpPr/>
          <p:nvPr/>
        </p:nvSpPr>
        <p:spPr>
          <a:xfrm>
            <a:off x="84048" y="3235090"/>
            <a:ext cx="12020920" cy="3343134"/>
          </a:xfrm>
          <a:prstGeom prst="rect">
            <a:avLst/>
          </a:prstGeom>
          <a:solidFill>
            <a:srgbClr val="183B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325CBE49-F552-B5B2-08F0-A88C5114B003}"/>
              </a:ext>
            </a:extLst>
          </p:cNvPr>
          <p:cNvSpPr/>
          <p:nvPr/>
        </p:nvSpPr>
        <p:spPr>
          <a:xfrm>
            <a:off x="8257710" y="3369878"/>
            <a:ext cx="3750693" cy="3114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D92272C3-0E5E-D940-85D1-17E4B8392D28}"/>
              </a:ext>
            </a:extLst>
          </p:cNvPr>
          <p:cNvSpPr/>
          <p:nvPr/>
        </p:nvSpPr>
        <p:spPr>
          <a:xfrm>
            <a:off x="4231064" y="3369878"/>
            <a:ext cx="3750693" cy="3114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8942C-32AB-7614-232C-C01F036B2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Peptide properties prediction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363A0CC-096E-2F51-BEFF-90DAA4889355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/>
              <a:t>Representations</a:t>
            </a:r>
          </a:p>
        </p:txBody>
      </p: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B98C661E-6AB8-517D-BCC4-276AFD0FDC63}"/>
              </a:ext>
            </a:extLst>
          </p:cNvPr>
          <p:cNvGrpSpPr/>
          <p:nvPr/>
        </p:nvGrpSpPr>
        <p:grpSpPr>
          <a:xfrm>
            <a:off x="171080" y="3369878"/>
            <a:ext cx="3750693" cy="3114737"/>
            <a:chOff x="89192" y="2974086"/>
            <a:chExt cx="3750693" cy="3114737"/>
          </a:xfrm>
        </p:grpSpPr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08B2C02D-884D-C25F-657A-3BE732CDF18E}"/>
                </a:ext>
              </a:extLst>
            </p:cNvPr>
            <p:cNvSpPr/>
            <p:nvPr/>
          </p:nvSpPr>
          <p:spPr>
            <a:xfrm>
              <a:off x="89192" y="2974086"/>
              <a:ext cx="3750693" cy="31147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172" name="文本框 10">
              <a:extLst>
                <a:ext uri="{FF2B5EF4-FFF2-40B4-BE49-F238E27FC236}">
                  <a16:creationId xmlns:a16="http://schemas.microsoft.com/office/drawing/2014/main" id="{A852D608-8058-4944-5C7B-B69DD75574CB}"/>
                </a:ext>
              </a:extLst>
            </p:cNvPr>
            <p:cNvSpPr txBox="1"/>
            <p:nvPr/>
          </p:nvSpPr>
          <p:spPr>
            <a:xfrm>
              <a:off x="457420" y="3056008"/>
              <a:ext cx="3207515" cy="11644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C71585"/>
                  </a:solidFill>
                  <a:effectLst/>
                  <a:uLnTx/>
                  <a:uFillTx/>
                  <a:latin typeface="Arial" panose="020B0604020202020204" pitchFamily="34" charset="0"/>
                  <a:ea typeface="Helvetica Neue" panose="02000503000000020004" pitchFamily="2" charset="0"/>
                  <a:cs typeface="Arial" panose="020B0604020202020204" pitchFamily="34" charset="0"/>
                </a:rPr>
                <a:t>Morgan Fingerprints</a:t>
              </a:r>
            </a:p>
            <a:p>
              <a:pPr marL="0" marR="0" lvl="0" indent="0" algn="l" defTabSz="914353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Helvetica Neue" panose="02000503000000020004" pitchFamily="2" charset="0"/>
                  <a:cs typeface="Arial" panose="020B0604020202020204" pitchFamily="34" charset="0"/>
                </a:rPr>
                <a:t>With Classical Regression</a:t>
              </a:r>
            </a:p>
            <a:p>
              <a:pPr marL="0" marR="0" lvl="0" indent="0" algn="l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i Jamjuree" pitchFamily="2" charset="-34"/>
                  <a:ea typeface="Helvetica Neue" panose="02000503000000020004" pitchFamily="2" charset="0"/>
                  <a:cs typeface="Bai Jamjuree" pitchFamily="2" charset="-34"/>
                </a:rPr>
                <a:t> </a:t>
              </a:r>
            </a:p>
          </p:txBody>
        </p:sp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CAAF2829-F70C-0232-FF2C-F8B3C84B7BD9}"/>
              </a:ext>
            </a:extLst>
          </p:cNvPr>
          <p:cNvGrpSpPr/>
          <p:nvPr/>
        </p:nvGrpSpPr>
        <p:grpSpPr>
          <a:xfrm>
            <a:off x="4436351" y="3442761"/>
            <a:ext cx="3340118" cy="3036154"/>
            <a:chOff x="4249528" y="3033321"/>
            <a:chExt cx="3340118" cy="3036154"/>
          </a:xfrm>
        </p:grpSpPr>
        <p:sp>
          <p:nvSpPr>
            <p:cNvPr id="173" name="文本框 10">
              <a:extLst>
                <a:ext uri="{FF2B5EF4-FFF2-40B4-BE49-F238E27FC236}">
                  <a16:creationId xmlns:a16="http://schemas.microsoft.com/office/drawing/2014/main" id="{69D1F16F-8F94-8D8A-FBFB-E675274476B0}"/>
                </a:ext>
              </a:extLst>
            </p:cNvPr>
            <p:cNvSpPr txBox="1"/>
            <p:nvPr/>
          </p:nvSpPr>
          <p:spPr>
            <a:xfrm>
              <a:off x="4366270" y="3033321"/>
              <a:ext cx="3106635" cy="948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193E5B"/>
                  </a:solidFill>
                  <a:effectLst/>
                  <a:uLnTx/>
                  <a:uFillTx/>
                  <a:latin typeface="Arial" panose="020B0604020202020204" pitchFamily="34" charset="0"/>
                  <a:ea typeface="Helvetica Neue" panose="02000503000000020004" pitchFamily="2" charset="0"/>
                  <a:cs typeface="Arial" panose="020B0604020202020204" pitchFamily="34" charset="0"/>
                </a:rPr>
                <a:t>Molecular Graphs</a:t>
              </a:r>
            </a:p>
            <a:p>
              <a:pPr marL="0" marR="0" lvl="0" indent="0" algn="l" defTabSz="914353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Helvetica Neue" panose="02000503000000020004" pitchFamily="2" charset="0"/>
                  <a:cs typeface="Arial" panose="020B0604020202020204" pitchFamily="34" charset="0"/>
                </a:rPr>
                <a:t>With </a:t>
              </a:r>
              <a:r>
                <a:rPr kumimoji="0" lang="en-US" altLang="zh-CN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Helvetica Neue" panose="02000503000000020004" pitchFamily="2" charset="0"/>
                  <a:cs typeface="Arial" panose="020B0604020202020204" pitchFamily="34" charset="0"/>
                </a:rPr>
                <a:t>ChemProp</a:t>
              </a: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Helvetica Neue" panose="02000503000000020004" pitchFamily="2" charset="0"/>
                  <a:cs typeface="Arial" panose="020B0604020202020204" pitchFamily="34" charset="0"/>
                </a:rPr>
                <a:t> DMPNN</a:t>
              </a:r>
            </a:p>
            <a:p>
              <a:pPr marL="0" marR="0" lvl="0" indent="0" algn="l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i Jamjuree" pitchFamily="2" charset="-34"/>
                  <a:ea typeface="Helvetica Neue" panose="02000503000000020004" pitchFamily="2" charset="0"/>
                  <a:cs typeface="Bai Jamjuree" pitchFamily="2" charset="-34"/>
                </a:rPr>
                <a:t> </a:t>
              </a:r>
            </a:p>
          </p:txBody>
        </p: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23773FD6-146E-985B-2AC5-F089109C3D95}"/>
                </a:ext>
              </a:extLst>
            </p:cNvPr>
            <p:cNvGrpSpPr/>
            <p:nvPr/>
          </p:nvGrpSpPr>
          <p:grpSpPr>
            <a:xfrm>
              <a:off x="4249528" y="3810370"/>
              <a:ext cx="3340118" cy="2259105"/>
              <a:chOff x="5094393" y="18438586"/>
              <a:chExt cx="3340210" cy="2286515"/>
            </a:xfrm>
          </p:grpSpPr>
          <p:pic>
            <p:nvPicPr>
              <p:cNvPr id="179" name="Picture 178" descr="A group of circles with numbers&#10;&#10;AI-generated content may be incorrect.">
                <a:extLst>
                  <a:ext uri="{FF2B5EF4-FFF2-40B4-BE49-F238E27FC236}">
                    <a16:creationId xmlns:a16="http://schemas.microsoft.com/office/drawing/2014/main" id="{21D36A6F-D8E2-29D2-AA7B-653316203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 l="56769" t="31721" r="1722" b="5948"/>
              <a:stretch>
                <a:fillRect/>
              </a:stretch>
            </p:blipFill>
            <p:spPr>
              <a:xfrm>
                <a:off x="5094393" y="18438586"/>
                <a:ext cx="2982170" cy="1427449"/>
              </a:xfrm>
              <a:prstGeom prst="rect">
                <a:avLst/>
              </a:prstGeom>
            </p:spPr>
          </p:pic>
          <p:sp>
            <p:nvSpPr>
              <p:cNvPr id="180" name="Trapezoid 179">
                <a:extLst>
                  <a:ext uri="{FF2B5EF4-FFF2-40B4-BE49-F238E27FC236}">
                    <a16:creationId xmlns:a16="http://schemas.microsoft.com/office/drawing/2014/main" id="{218E40CF-532B-7D33-6C00-94B06362DAAF}"/>
                  </a:ext>
                </a:extLst>
              </p:cNvPr>
              <p:cNvSpPr/>
              <p:nvPr/>
            </p:nvSpPr>
            <p:spPr>
              <a:xfrm rot="20923885">
                <a:off x="6143694" y="18536910"/>
                <a:ext cx="1605419" cy="1529983"/>
              </a:xfrm>
              <a:prstGeom prst="trapezoid">
                <a:avLst>
                  <a:gd name="adj" fmla="val 62043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alpha val="71395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CD"/>
                  </a:solidFill>
                  <a:effectLst/>
                  <a:uLnTx/>
                  <a:uFillTx/>
                  <a:latin typeface="Bai Jamjuree" pitchFamily="2" charset="-34"/>
                  <a:ea typeface="Helvetica Neue" panose="02000503000000020004" pitchFamily="2" charset="0"/>
                  <a:cs typeface="Bai Jamjuree" pitchFamily="2" charset="-34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EACFB7DA-20DD-88BF-CCBD-ADAAE165CC6F}"/>
                  </a:ext>
                </a:extLst>
              </p:cNvPr>
              <p:cNvSpPr txBox="1"/>
              <p:nvPr/>
            </p:nvSpPr>
            <p:spPr>
              <a:xfrm>
                <a:off x="5842045" y="19339376"/>
                <a:ext cx="2276648" cy="24622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CD"/>
                    </a:solidFill>
                    <a:effectLst/>
                    <a:uLnTx/>
                    <a:uFillTx/>
                    <a:latin typeface="Bai Jamjuree" pitchFamily="2" charset="-34"/>
                    <a:ea typeface="Helvetica Neue" panose="02000503000000020004" pitchFamily="2" charset="0"/>
                    <a:cs typeface="Bai Jamjuree" pitchFamily="2" charset="-34"/>
                  </a:rPr>
                  <a:t>Node &amp; Edge Features</a:t>
                </a:r>
              </a:p>
            </p:txBody>
          </p:sp>
          <p:sp>
            <p:nvSpPr>
              <p:cNvPr id="182" name="Trapezoid 54">
                <a:extLst>
                  <a:ext uri="{FF2B5EF4-FFF2-40B4-BE49-F238E27FC236}">
                    <a16:creationId xmlns:a16="http://schemas.microsoft.com/office/drawing/2014/main" id="{BF00A733-3169-A7BE-5E34-AF81360663AC}"/>
                  </a:ext>
                </a:extLst>
              </p:cNvPr>
              <p:cNvSpPr/>
              <p:nvPr/>
            </p:nvSpPr>
            <p:spPr>
              <a:xfrm rot="10800000">
                <a:off x="6040110" y="20235787"/>
                <a:ext cx="1656095" cy="318038"/>
              </a:xfrm>
              <a:custGeom>
                <a:avLst/>
                <a:gdLst>
                  <a:gd name="csX0" fmla="*/ 0 w 1557525"/>
                  <a:gd name="csY0" fmla="*/ 621792 h 621792"/>
                  <a:gd name="csX1" fmla="*/ 521211 w 1557525"/>
                  <a:gd name="csY1" fmla="*/ 0 h 621792"/>
                  <a:gd name="csX2" fmla="*/ 1036314 w 1557525"/>
                  <a:gd name="csY2" fmla="*/ 0 h 621792"/>
                  <a:gd name="csX3" fmla="*/ 1557525 w 1557525"/>
                  <a:gd name="csY3" fmla="*/ 621792 h 621792"/>
                  <a:gd name="csX4" fmla="*/ 0 w 1557525"/>
                  <a:gd name="csY4" fmla="*/ 621792 h 621792"/>
                  <a:gd name="csX0" fmla="*/ 0 w 1557525"/>
                  <a:gd name="csY0" fmla="*/ 621792 h 621792"/>
                  <a:gd name="csX1" fmla="*/ 521211 w 1557525"/>
                  <a:gd name="csY1" fmla="*/ 0 h 621792"/>
                  <a:gd name="csX2" fmla="*/ 1276946 w 1557525"/>
                  <a:gd name="csY2" fmla="*/ 288758 h 621792"/>
                  <a:gd name="csX3" fmla="*/ 1557525 w 1557525"/>
                  <a:gd name="csY3" fmla="*/ 621792 h 621792"/>
                  <a:gd name="csX4" fmla="*/ 0 w 1557525"/>
                  <a:gd name="csY4" fmla="*/ 621792 h 621792"/>
                  <a:gd name="csX0" fmla="*/ 0 w 1557525"/>
                  <a:gd name="csY0" fmla="*/ 345065 h 345065"/>
                  <a:gd name="csX1" fmla="*/ 779890 w 1557525"/>
                  <a:gd name="csY1" fmla="*/ 0 h 345065"/>
                  <a:gd name="csX2" fmla="*/ 1276946 w 1557525"/>
                  <a:gd name="csY2" fmla="*/ 12031 h 345065"/>
                  <a:gd name="csX3" fmla="*/ 1557525 w 1557525"/>
                  <a:gd name="csY3" fmla="*/ 345065 h 345065"/>
                  <a:gd name="csX4" fmla="*/ 0 w 1557525"/>
                  <a:gd name="csY4" fmla="*/ 345065 h 345065"/>
                  <a:gd name="csX0" fmla="*/ 0 w 1557525"/>
                  <a:gd name="csY0" fmla="*/ 345065 h 345065"/>
                  <a:gd name="csX1" fmla="*/ 779890 w 1557525"/>
                  <a:gd name="csY1" fmla="*/ 0 h 345065"/>
                  <a:gd name="csX2" fmla="*/ 1457993 w 1557525"/>
                  <a:gd name="csY2" fmla="*/ 24063 h 345065"/>
                  <a:gd name="csX3" fmla="*/ 1557525 w 1557525"/>
                  <a:gd name="csY3" fmla="*/ 345065 h 345065"/>
                  <a:gd name="csX4" fmla="*/ 0 w 1557525"/>
                  <a:gd name="csY4" fmla="*/ 345065 h 345065"/>
                  <a:gd name="csX0" fmla="*/ 0 w 1557525"/>
                  <a:gd name="csY0" fmla="*/ 321002 h 321002"/>
                  <a:gd name="csX1" fmla="*/ 1000178 w 1557525"/>
                  <a:gd name="csY1" fmla="*/ 2964 h 321002"/>
                  <a:gd name="csX2" fmla="*/ 1457993 w 1557525"/>
                  <a:gd name="csY2" fmla="*/ 0 h 321002"/>
                  <a:gd name="csX3" fmla="*/ 1557525 w 1557525"/>
                  <a:gd name="csY3" fmla="*/ 321002 h 321002"/>
                  <a:gd name="csX4" fmla="*/ 0 w 1557525"/>
                  <a:gd name="csY4" fmla="*/ 321002 h 321002"/>
                  <a:gd name="csX0" fmla="*/ 0 w 1557525"/>
                  <a:gd name="csY0" fmla="*/ 318038 h 318038"/>
                  <a:gd name="csX1" fmla="*/ 1000178 w 1557525"/>
                  <a:gd name="csY1" fmla="*/ 0 h 318038"/>
                  <a:gd name="csX2" fmla="*/ 1460979 w 1557525"/>
                  <a:gd name="csY2" fmla="*/ 211 h 318038"/>
                  <a:gd name="csX3" fmla="*/ 1557525 w 1557525"/>
                  <a:gd name="csY3" fmla="*/ 318038 h 318038"/>
                  <a:gd name="csX4" fmla="*/ 0 w 1557525"/>
                  <a:gd name="csY4" fmla="*/ 318038 h 318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557525" h="318038">
                    <a:moveTo>
                      <a:pt x="0" y="318038"/>
                    </a:moveTo>
                    <a:lnTo>
                      <a:pt x="1000178" y="0"/>
                    </a:lnTo>
                    <a:lnTo>
                      <a:pt x="1460979" y="211"/>
                    </a:lnTo>
                    <a:lnTo>
                      <a:pt x="1557525" y="318038"/>
                    </a:lnTo>
                    <a:lnTo>
                      <a:pt x="0" y="318038"/>
                    </a:lnTo>
                    <a:close/>
                  </a:path>
                </a:pathLst>
              </a:custGeom>
              <a:solidFill>
                <a:srgbClr val="EEEE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ounded Rectangle 42">
                <a:extLst>
                  <a:ext uri="{FF2B5EF4-FFF2-40B4-BE49-F238E27FC236}">
                    <a16:creationId xmlns:a16="http://schemas.microsoft.com/office/drawing/2014/main" id="{C1DE117B-D069-4F49-FBC7-A58BF9E90304}"/>
                  </a:ext>
                </a:extLst>
              </p:cNvPr>
              <p:cNvSpPr/>
              <p:nvPr/>
            </p:nvSpPr>
            <p:spPr>
              <a:xfrm>
                <a:off x="6040111" y="19799518"/>
                <a:ext cx="2394492" cy="528571"/>
              </a:xfrm>
              <a:prstGeom prst="roundRect">
                <a:avLst/>
              </a:prstGeom>
              <a:solidFill>
                <a:srgbClr val="EEEEF9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11FC1647-F75D-7F14-3B00-C865F97230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2015" y="19893411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210B69C-32B6-7760-8948-1F3EE0BD76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29503" y="19893411"/>
                <a:ext cx="125374" cy="1253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9E6DC02B-CB45-9FA1-75A5-B0196D4E33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52596" y="19893411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1B145E11-E9E0-EEED-B2B7-FB1C46BE5B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80084" y="19893411"/>
                <a:ext cx="125374" cy="125374"/>
              </a:xfrm>
              <a:prstGeom prst="rect">
                <a:avLst/>
              </a:prstGeom>
              <a:solidFill>
                <a:srgbClr val="A6A6E1">
                  <a:alpha val="61910"/>
                </a:srgbClr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7F801B4E-0F5C-2E5D-10A1-152DB4C902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07573" y="19893411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D0C763F6-03F1-9B8B-BCFE-E3E7FA79EF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8583" y="19893411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AAB7075E-70ED-2710-8642-A80500482A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86071" y="19893411"/>
                <a:ext cx="125374" cy="1253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35E808E3-4361-7236-83CE-D48AE4AA89B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09164" y="19893411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7052C42E-FBAB-AC17-2FF2-9791580D75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36652" y="19893411"/>
                <a:ext cx="125374" cy="125374"/>
              </a:xfrm>
              <a:prstGeom prst="rect">
                <a:avLst/>
              </a:prstGeom>
              <a:solidFill>
                <a:srgbClr val="A6A6E1">
                  <a:alpha val="61910"/>
                </a:srgbClr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73FCA33A-6C6F-90A7-E54C-3BD372ED43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4141" y="19893411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132151A7-21EA-9937-09F0-86ADCD2929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2015" y="20110750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ACB3C264-310F-0523-661B-368B2769B4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29503" y="20110750"/>
                <a:ext cx="125374" cy="1253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455F7482-EFFA-FC87-3384-DDC2D084DE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52596" y="20110750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DF292B08-E2B0-2D8E-D897-35DDFBE54D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80084" y="20110750"/>
                <a:ext cx="125374" cy="125374"/>
              </a:xfrm>
              <a:prstGeom prst="rect">
                <a:avLst/>
              </a:prstGeom>
              <a:solidFill>
                <a:srgbClr val="A6A6E1">
                  <a:alpha val="61910"/>
                </a:srgbClr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D386823B-8FB8-C0EB-F38C-C8445C4BCD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07573" y="20110750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8E2E0AD6-4575-1748-A9BA-967FEEB21C5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58583" y="20110750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21E2963C-4DCD-BD7B-EC2C-38E691AC8C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86071" y="20110750"/>
                <a:ext cx="125374" cy="12537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284F0A64-565E-1072-3DCB-41B666D945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09164" y="20110750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92E8E52-2A93-3DA1-DCD1-64DDC2FA9B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36652" y="20110750"/>
                <a:ext cx="125374" cy="125374"/>
              </a:xfrm>
              <a:prstGeom prst="rect">
                <a:avLst/>
              </a:prstGeom>
              <a:solidFill>
                <a:srgbClr val="A6A6E1">
                  <a:alpha val="61910"/>
                </a:srgbClr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C21AA2D6-2131-2982-6843-5450F8F3B4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64141" y="20110750"/>
                <a:ext cx="125374" cy="125374"/>
              </a:xfrm>
              <a:prstGeom prst="rect">
                <a:avLst/>
              </a:prstGeom>
              <a:solidFill>
                <a:srgbClr val="A6A6E1"/>
              </a:solidFill>
              <a:ln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B61889F0-7429-9167-A628-3C8803F3D6C5}"/>
                  </a:ext>
                </a:extLst>
              </p:cNvPr>
              <p:cNvSpPr txBox="1"/>
              <p:nvPr/>
            </p:nvSpPr>
            <p:spPr>
              <a:xfrm>
                <a:off x="6001163" y="19819695"/>
                <a:ext cx="570293" cy="24622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1" u="none" strike="noStrike" kern="1200" cap="none" spc="0" normalizeH="0" baseline="0" noProof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Bai Jamjuree" pitchFamily="2" charset="-34"/>
                    <a:ea typeface="Helvetica Neue" panose="02000503000000020004" pitchFamily="2" charset="0"/>
                    <a:cs typeface="Bai Jamjuree" pitchFamily="2" charset="-34"/>
                  </a:rPr>
                  <a:t>0.5</a:t>
                </a:r>
                <a:r>
                  <a:rPr kumimoji="0" lang="en-US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CD"/>
                    </a:solidFill>
                    <a:effectLst/>
                    <a:uLnTx/>
                    <a:uFillTx/>
                    <a:latin typeface="Bai Jamjuree" pitchFamily="2" charset="-34"/>
                    <a:ea typeface="Helvetica Neue" panose="02000503000000020004" pitchFamily="2" charset="0"/>
                    <a:cs typeface="Bai Jamjuree" pitchFamily="2" charset="-34"/>
                  </a:rPr>
                  <a:t> x</a:t>
                </a: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ED2A9684-FD04-3438-EA48-E2FAB997CD64}"/>
                  </a:ext>
                </a:extLst>
              </p:cNvPr>
              <p:cNvSpPr txBox="1"/>
              <p:nvPr/>
            </p:nvSpPr>
            <p:spPr>
              <a:xfrm>
                <a:off x="5988992" y="20036699"/>
                <a:ext cx="570293" cy="24622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1" u="none" strike="noStrike" kern="1200" cap="none" spc="0" normalizeH="0" baseline="0" noProof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Bai Jamjuree" pitchFamily="2" charset="-34"/>
                    <a:ea typeface="Helvetica Neue" panose="02000503000000020004" pitchFamily="2" charset="0"/>
                    <a:cs typeface="Bai Jamjuree" pitchFamily="2" charset="-34"/>
                  </a:rPr>
                  <a:t>   1 </a:t>
                </a:r>
                <a:r>
                  <a:rPr kumimoji="0" lang="en-US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CD"/>
                    </a:solidFill>
                    <a:effectLst/>
                    <a:uLnTx/>
                    <a:uFillTx/>
                    <a:latin typeface="Bai Jamjuree" pitchFamily="2" charset="-34"/>
                    <a:ea typeface="Helvetica Neue" panose="02000503000000020004" pitchFamily="2" charset="0"/>
                    <a:cs typeface="Bai Jamjuree" pitchFamily="2" charset="-34"/>
                  </a:rPr>
                  <a:t>x</a:t>
                </a: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926F3EF3-2AF5-C555-B844-7B5E1666228B}"/>
                  </a:ext>
                </a:extLst>
              </p:cNvPr>
              <p:cNvSpPr txBox="1"/>
              <p:nvPr/>
            </p:nvSpPr>
            <p:spPr>
              <a:xfrm>
                <a:off x="7117788" y="19819695"/>
                <a:ext cx="570293" cy="24622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1" u="none" strike="noStrike" kern="1200" cap="none" spc="0" normalizeH="0" baseline="0" noProof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Bai Jamjuree" pitchFamily="2" charset="-34"/>
                    <a:ea typeface="Helvetica Neue" panose="02000503000000020004" pitchFamily="2" charset="0"/>
                    <a:cs typeface="Bai Jamjuree" pitchFamily="2" charset="-34"/>
                  </a:rPr>
                  <a:t>1</a:t>
                </a:r>
                <a:r>
                  <a:rPr kumimoji="0" lang="en-US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CD"/>
                    </a:solidFill>
                    <a:effectLst/>
                    <a:uLnTx/>
                    <a:uFillTx/>
                    <a:latin typeface="Bai Jamjuree" pitchFamily="2" charset="-34"/>
                    <a:ea typeface="Helvetica Neue" panose="02000503000000020004" pitchFamily="2" charset="0"/>
                    <a:cs typeface="Bai Jamjuree" pitchFamily="2" charset="-34"/>
                  </a:rPr>
                  <a:t> x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01331124-1F00-A8AD-89F8-FD8DA05E7E48}"/>
                  </a:ext>
                </a:extLst>
              </p:cNvPr>
              <p:cNvSpPr txBox="1"/>
              <p:nvPr/>
            </p:nvSpPr>
            <p:spPr>
              <a:xfrm>
                <a:off x="7105617" y="20036699"/>
                <a:ext cx="570293" cy="24622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1" i="1" u="none" strike="noStrike" kern="1200" cap="none" spc="0" normalizeH="0" baseline="0" noProof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Bai Jamjuree" pitchFamily="2" charset="-34"/>
                    <a:ea typeface="Helvetica Neue" panose="02000503000000020004" pitchFamily="2" charset="0"/>
                    <a:cs typeface="Bai Jamjuree" pitchFamily="2" charset="-34"/>
                  </a:rPr>
                  <a:t>0.5 </a:t>
                </a:r>
                <a:r>
                  <a:rPr kumimoji="0" lang="en-US" sz="10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CD"/>
                    </a:solidFill>
                    <a:effectLst/>
                    <a:uLnTx/>
                    <a:uFillTx/>
                    <a:latin typeface="Bai Jamjuree" pitchFamily="2" charset="-34"/>
                    <a:ea typeface="Helvetica Neue" panose="02000503000000020004" pitchFamily="2" charset="0"/>
                    <a:cs typeface="Bai Jamjuree" pitchFamily="2" charset="-34"/>
                  </a:rPr>
                  <a:t>x</a:t>
                </a:r>
              </a:p>
            </p:txBody>
          </p:sp>
          <p:grpSp>
            <p:nvGrpSpPr>
              <p:cNvPr id="208" name="Group 207">
                <a:extLst>
                  <a:ext uri="{FF2B5EF4-FFF2-40B4-BE49-F238E27FC236}">
                    <a16:creationId xmlns:a16="http://schemas.microsoft.com/office/drawing/2014/main" id="{87D0A5D6-FF71-AED0-447D-3CDC1C30769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77192" y="20301879"/>
                <a:ext cx="2357411" cy="423222"/>
                <a:chOff x="6077192" y="20301879"/>
                <a:chExt cx="2589817" cy="464946"/>
              </a:xfrm>
            </p:grpSpPr>
            <p:sp>
              <p:nvSpPr>
                <p:cNvPr id="209" name="Rectangle 208">
                  <a:extLst>
                    <a:ext uri="{FF2B5EF4-FFF2-40B4-BE49-F238E27FC236}">
                      <a16:creationId xmlns:a16="http://schemas.microsoft.com/office/drawing/2014/main" id="{52303D4A-6593-085A-34DF-405205B24B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77192" y="20579486"/>
                  <a:ext cx="125374" cy="125374"/>
                </a:xfrm>
                <a:prstGeom prst="rect">
                  <a:avLst/>
                </a:prstGeom>
                <a:solidFill>
                  <a:srgbClr val="A6A6E1"/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 209">
                  <a:extLst>
                    <a:ext uri="{FF2B5EF4-FFF2-40B4-BE49-F238E27FC236}">
                      <a16:creationId xmlns:a16="http://schemas.microsoft.com/office/drawing/2014/main" id="{69015BA4-445E-7F76-11A1-1106EA1101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204680" y="20579486"/>
                  <a:ext cx="125374" cy="125374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7848692F-1D82-AD5F-DD6A-B917377998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27773" y="20579486"/>
                  <a:ext cx="125374" cy="125374"/>
                </a:xfrm>
                <a:prstGeom prst="rect">
                  <a:avLst/>
                </a:prstGeom>
                <a:solidFill>
                  <a:srgbClr val="A6A6E1"/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C1672935-50F2-19DE-B1D4-BBF43FDA43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55261" y="20579486"/>
                  <a:ext cx="125374" cy="125374"/>
                </a:xfrm>
                <a:prstGeom prst="rect">
                  <a:avLst/>
                </a:prstGeom>
                <a:solidFill>
                  <a:srgbClr val="A6A6E1">
                    <a:alpha val="61910"/>
                  </a:srgbClr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660B37E8-406A-BBCF-FB91-EAD0C3E412F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582750" y="20579486"/>
                  <a:ext cx="125374" cy="125374"/>
                </a:xfrm>
                <a:prstGeom prst="rect">
                  <a:avLst/>
                </a:prstGeom>
                <a:solidFill>
                  <a:srgbClr val="A6A6E1"/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" name="Rectangle 213">
                  <a:extLst>
                    <a:ext uri="{FF2B5EF4-FFF2-40B4-BE49-F238E27FC236}">
                      <a16:creationId xmlns:a16="http://schemas.microsoft.com/office/drawing/2014/main" id="{C64EE639-E46A-8B28-D273-A618D6C1C6E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753736" y="20579486"/>
                  <a:ext cx="125374" cy="125374"/>
                </a:xfrm>
                <a:prstGeom prst="rect">
                  <a:avLst/>
                </a:prstGeom>
                <a:solidFill>
                  <a:srgbClr val="A6A6E1"/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4C6A0E30-C569-3A81-70A9-9A847E4935C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1224" y="20579486"/>
                  <a:ext cx="125374" cy="125374"/>
                </a:xfrm>
                <a:prstGeom prst="rect">
                  <a:avLst/>
                </a:prstGeom>
                <a:solidFill>
                  <a:srgbClr val="A6A6E1">
                    <a:alpha val="61910"/>
                  </a:srgbClr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6667E27A-E364-1076-5CFB-52B1E82826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08713" y="20579486"/>
                  <a:ext cx="125374" cy="125374"/>
                </a:xfrm>
                <a:prstGeom prst="rect">
                  <a:avLst/>
                </a:prstGeom>
                <a:solidFill>
                  <a:srgbClr val="A6A6E1"/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" name="Rounded Rectangle 155">
                  <a:extLst>
                    <a:ext uri="{FF2B5EF4-FFF2-40B4-BE49-F238E27FC236}">
                      <a16:creationId xmlns:a16="http://schemas.microsoft.com/office/drawing/2014/main" id="{78447225-361E-F820-9BCA-3C175022C228}"/>
                    </a:ext>
                  </a:extLst>
                </p:cNvPr>
                <p:cNvSpPr/>
                <p:nvPr/>
              </p:nvSpPr>
              <p:spPr>
                <a:xfrm>
                  <a:off x="7411353" y="20511817"/>
                  <a:ext cx="346458" cy="255008"/>
                </a:xfrm>
                <a:prstGeom prst="roundRect">
                  <a:avLst/>
                </a:prstGeom>
                <a:solidFill>
                  <a:srgbClr val="EEEEF9"/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200">
                      <a:solidFill>
                        <a:schemeClr val="accent1"/>
                      </a:solidFill>
                      <a:latin typeface="Bai Jamjuree" pitchFamily="2" charset="-34"/>
                      <a:cs typeface="Bai Jamjuree" pitchFamily="2" charset="-34"/>
                    </a:rPr>
                    <a:t>NN</a:t>
                  </a:r>
                  <a:endParaRPr lang="en-US">
                    <a:solidFill>
                      <a:schemeClr val="accent1"/>
                    </a:solidFill>
                    <a:latin typeface="Bai Jamjuree" pitchFamily="2" charset="-34"/>
                    <a:cs typeface="Bai Jamjuree" pitchFamily="2" charset="-34"/>
                  </a:endParaRPr>
                </a:p>
              </p:txBody>
            </p:sp>
            <p:cxnSp>
              <p:nvCxnSpPr>
                <p:cNvPr id="218" name="Straight Arrow Connector 217">
                  <a:extLst>
                    <a:ext uri="{FF2B5EF4-FFF2-40B4-BE49-F238E27FC236}">
                      <a16:creationId xmlns:a16="http://schemas.microsoft.com/office/drawing/2014/main" id="{518C3B13-80A2-C50C-9FB3-708152DA88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56199" y="20646716"/>
                  <a:ext cx="22565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Arrow Connector 218">
                  <a:extLst>
                    <a:ext uri="{FF2B5EF4-FFF2-40B4-BE49-F238E27FC236}">
                      <a16:creationId xmlns:a16="http://schemas.microsoft.com/office/drawing/2014/main" id="{2876E9FA-3B62-2FD3-7A27-DDC6D5AA02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87131" y="20646716"/>
                  <a:ext cx="225656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0" name="Rectangle 219">
                  <a:extLst>
                    <a:ext uri="{FF2B5EF4-FFF2-40B4-BE49-F238E27FC236}">
                      <a16:creationId xmlns:a16="http://schemas.microsoft.com/office/drawing/2014/main" id="{DD23B615-E6D4-8890-482E-953676920E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36077" y="20579486"/>
                  <a:ext cx="125374" cy="125374"/>
                </a:xfrm>
                <a:prstGeom prst="rect">
                  <a:avLst/>
                </a:prstGeom>
                <a:solidFill>
                  <a:srgbClr val="A6A6E1"/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Rectangle 220">
                  <a:extLst>
                    <a:ext uri="{FF2B5EF4-FFF2-40B4-BE49-F238E27FC236}">
                      <a16:creationId xmlns:a16="http://schemas.microsoft.com/office/drawing/2014/main" id="{A8018F53-9DF0-A32D-AF02-C64D810689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163565" y="20579486"/>
                  <a:ext cx="125374" cy="125374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Rectangle 221">
                  <a:extLst>
                    <a:ext uri="{FF2B5EF4-FFF2-40B4-BE49-F238E27FC236}">
                      <a16:creationId xmlns:a16="http://schemas.microsoft.com/office/drawing/2014/main" id="{624E5C77-22E3-A939-2709-C6299B225EE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6658" y="20579486"/>
                  <a:ext cx="125374" cy="125374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" name="Rectangle 222">
                  <a:extLst>
                    <a:ext uri="{FF2B5EF4-FFF2-40B4-BE49-F238E27FC236}">
                      <a16:creationId xmlns:a16="http://schemas.microsoft.com/office/drawing/2014/main" id="{06A22167-6F64-6831-6B96-75E429C3AC8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414146" y="20579486"/>
                  <a:ext cx="125374" cy="125374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42911"/>
                  </a:schemeClr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C0435667-A254-A0E4-9E94-81185C4E0E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541635" y="20579486"/>
                  <a:ext cx="125374" cy="125374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" name="Rounded Rectangle 164">
                  <a:extLst>
                    <a:ext uri="{FF2B5EF4-FFF2-40B4-BE49-F238E27FC236}">
                      <a16:creationId xmlns:a16="http://schemas.microsoft.com/office/drawing/2014/main" id="{A5ED6EC3-B7E2-6274-ECB3-E217ADDB2DA6}"/>
                    </a:ext>
                  </a:extLst>
                </p:cNvPr>
                <p:cNvSpPr/>
                <p:nvPr/>
              </p:nvSpPr>
              <p:spPr>
                <a:xfrm>
                  <a:off x="8188414" y="20301879"/>
                  <a:ext cx="346458" cy="255008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200">
                      <a:solidFill>
                        <a:schemeClr val="accent1"/>
                      </a:solidFill>
                      <a:latin typeface="Bai Jamjuree" pitchFamily="2" charset="-34"/>
                      <a:cs typeface="Bai Jamjuree" pitchFamily="2" charset="-34"/>
                    </a:rPr>
                    <a:t>h</a:t>
                  </a:r>
                  <a:r>
                    <a:rPr lang="en-US" sz="1200" baseline="-25000">
                      <a:solidFill>
                        <a:schemeClr val="accent1"/>
                      </a:solidFill>
                      <a:latin typeface="Bai Jamjuree" pitchFamily="2" charset="-34"/>
                      <a:cs typeface="Bai Jamjuree" pitchFamily="2" charset="-34"/>
                    </a:rPr>
                    <a:t>v</a:t>
                  </a:r>
                  <a:endParaRPr lang="en-US" baseline="-25000">
                    <a:solidFill>
                      <a:schemeClr val="accent1"/>
                    </a:solidFill>
                    <a:latin typeface="Bai Jamjuree" pitchFamily="2" charset="-34"/>
                    <a:cs typeface="Bai Jamjuree" pitchFamily="2" charset="-34"/>
                  </a:endParaRPr>
                </a:p>
              </p:txBody>
            </p:sp>
            <p:sp>
              <p:nvSpPr>
                <p:cNvPr id="226" name="Rounded Rectangle 165">
                  <a:extLst>
                    <a:ext uri="{FF2B5EF4-FFF2-40B4-BE49-F238E27FC236}">
                      <a16:creationId xmlns:a16="http://schemas.microsoft.com/office/drawing/2014/main" id="{B0F2B596-E3D5-97A7-2846-6FEB965E4CFD}"/>
                    </a:ext>
                  </a:extLst>
                </p:cNvPr>
                <p:cNvSpPr/>
                <p:nvPr/>
              </p:nvSpPr>
              <p:spPr>
                <a:xfrm>
                  <a:off x="6834177" y="20327123"/>
                  <a:ext cx="346458" cy="255008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200">
                      <a:solidFill>
                        <a:schemeClr val="accent1"/>
                      </a:solidFill>
                      <a:latin typeface="Bai Jamjuree" pitchFamily="2" charset="-34"/>
                      <a:cs typeface="Bai Jamjuree" pitchFamily="2" charset="-34"/>
                    </a:rPr>
                    <a:t>x</a:t>
                  </a:r>
                  <a:r>
                    <a:rPr lang="en-US" sz="1200" baseline="-25000">
                      <a:solidFill>
                        <a:schemeClr val="accent1"/>
                      </a:solidFill>
                      <a:latin typeface="Bai Jamjuree" pitchFamily="2" charset="-34"/>
                      <a:cs typeface="Bai Jamjuree" pitchFamily="2" charset="-34"/>
                    </a:rPr>
                    <a:t>v</a:t>
                  </a:r>
                  <a:endParaRPr lang="en-US" baseline="-25000">
                    <a:solidFill>
                      <a:schemeClr val="accent1"/>
                    </a:solidFill>
                    <a:latin typeface="Bai Jamjuree" pitchFamily="2" charset="-34"/>
                    <a:cs typeface="Bai Jamjuree" pitchFamily="2" charset="-34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27" name="Rounded Rectangle 166">
                      <a:extLst>
                        <a:ext uri="{FF2B5EF4-FFF2-40B4-BE49-F238E27FC236}">
                          <a16:creationId xmlns:a16="http://schemas.microsoft.com/office/drawing/2014/main" id="{BB90FD1F-EAB8-7789-DF46-7CD1204E04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7854" y="20301879"/>
                      <a:ext cx="346458" cy="255008"/>
                    </a:xfrm>
                    <a:prstGeom prst="round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rIns="0"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Bai Jamjuree" pitchFamily="2" charset="-34"/>
                              </a:rPr>
                              <m:t>∑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>
                <p:sp>
                  <p:nvSpPr>
                    <p:cNvPr id="227" name="Rounded Rectangle 166">
                      <a:extLst>
                        <a:ext uri="{FF2B5EF4-FFF2-40B4-BE49-F238E27FC236}">
                          <a16:creationId xmlns:a16="http://schemas.microsoft.com/office/drawing/2014/main" id="{BB90FD1F-EAB8-7789-DF46-7CD1204E04E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97854" y="20301879"/>
                      <a:ext cx="346458" cy="255008"/>
                    </a:xfrm>
                    <a:prstGeom prst="roundRect">
                      <a:avLst/>
                    </a:prstGeom>
                    <a:blipFill>
                      <a:blip r:embed="rId3"/>
                      <a:stretch>
                        <a:fillRect b="-21053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it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277" name="Rectangle 276">
            <a:extLst>
              <a:ext uri="{FF2B5EF4-FFF2-40B4-BE49-F238E27FC236}">
                <a16:creationId xmlns:a16="http://schemas.microsoft.com/office/drawing/2014/main" id="{F992E734-5140-9BFD-6046-D543BD59B9DC}"/>
              </a:ext>
            </a:extLst>
          </p:cNvPr>
          <p:cNvSpPr>
            <a:spLocks noChangeAspect="1"/>
          </p:cNvSpPr>
          <p:nvPr/>
        </p:nvSpPr>
        <p:spPr>
          <a:xfrm>
            <a:off x="3828389" y="1071417"/>
            <a:ext cx="7973368" cy="1879299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rgbClr val="232333"/>
                </a:solidFill>
                <a:latin typeface="Arial Narrow" panose="020B0606020202030204" pitchFamily="34" charset="0"/>
                <a:cs typeface="Bai Jamjuree" pitchFamily="2" charset="-34"/>
              </a:rPr>
              <a:t>N[C@@H](Cc1ccccc1)C(=O)N[C@@H](CCSC)C(=O)N[C@@H](CC(C)C)C(=O)O</a:t>
            </a:r>
          </a:p>
        </p:txBody>
      </p: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268A9F08-72A0-226B-47AD-15FBF29D2259}"/>
              </a:ext>
            </a:extLst>
          </p:cNvPr>
          <p:cNvGrpSpPr>
            <a:grpSpLocks noChangeAspect="1"/>
          </p:cNvGrpSpPr>
          <p:nvPr/>
        </p:nvGrpSpPr>
        <p:grpSpPr>
          <a:xfrm>
            <a:off x="459569" y="4213107"/>
            <a:ext cx="2915595" cy="1925524"/>
            <a:chOff x="-607366" y="3743928"/>
            <a:chExt cx="3648291" cy="2409413"/>
          </a:xfrm>
        </p:grpSpPr>
        <p:pic>
          <p:nvPicPr>
            <p:cNvPr id="316" name="Graphic 315">
              <a:extLst>
                <a:ext uri="{FF2B5EF4-FFF2-40B4-BE49-F238E27FC236}">
                  <a16:creationId xmlns:a16="http://schemas.microsoft.com/office/drawing/2014/main" id="{FE797760-38D6-0062-CE7C-B99CCF2F6A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9616" y="3743928"/>
              <a:ext cx="1670201" cy="1806544"/>
            </a:xfrm>
            <a:prstGeom prst="rect">
              <a:avLst/>
            </a:prstGeom>
          </p:spPr>
        </p:pic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91A91270-60F7-0587-D540-1DB663F00D9C}"/>
                </a:ext>
              </a:extLst>
            </p:cNvPr>
            <p:cNvSpPr/>
            <p:nvPr/>
          </p:nvSpPr>
          <p:spPr>
            <a:xfrm>
              <a:off x="1018274" y="4121933"/>
              <a:ext cx="720000" cy="720000"/>
            </a:xfrm>
            <a:prstGeom prst="ellipse">
              <a:avLst/>
            </a:prstGeom>
            <a:noFill/>
            <a:ln w="19050">
              <a:solidFill>
                <a:srgbClr val="8585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B5D15D02-E274-0466-4370-3CF69C50665F}"/>
                </a:ext>
              </a:extLst>
            </p:cNvPr>
            <p:cNvSpPr/>
            <p:nvPr/>
          </p:nvSpPr>
          <p:spPr>
            <a:xfrm>
              <a:off x="840687" y="3942891"/>
              <a:ext cx="1080000" cy="1080000"/>
            </a:xfrm>
            <a:prstGeom prst="ellipse">
              <a:avLst/>
            </a:prstGeom>
            <a:noFill/>
            <a:ln w="19050">
              <a:solidFill>
                <a:srgbClr val="8585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7D2D9358-FDA4-09E8-E231-89D65ED94B67}"/>
                </a:ext>
              </a:extLst>
            </p:cNvPr>
            <p:cNvSpPr/>
            <p:nvPr/>
          </p:nvSpPr>
          <p:spPr>
            <a:xfrm>
              <a:off x="664830" y="3762138"/>
              <a:ext cx="1440000" cy="1440000"/>
            </a:xfrm>
            <a:prstGeom prst="ellipse">
              <a:avLst/>
            </a:prstGeom>
            <a:noFill/>
            <a:ln w="19050">
              <a:solidFill>
                <a:srgbClr val="8585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4186B704-EB63-3402-306B-012F1B35CD5E}"/>
                </a:ext>
              </a:extLst>
            </p:cNvPr>
            <p:cNvSpPr/>
            <p:nvPr/>
          </p:nvSpPr>
          <p:spPr>
            <a:xfrm>
              <a:off x="380197" y="3752519"/>
              <a:ext cx="360000" cy="360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190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F5447DD8-615E-1001-236D-00ACBA6AC939}"/>
                </a:ext>
              </a:extLst>
            </p:cNvPr>
            <p:cNvSpPr/>
            <p:nvPr/>
          </p:nvSpPr>
          <p:spPr>
            <a:xfrm>
              <a:off x="1065014" y="4887383"/>
              <a:ext cx="360000" cy="360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190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bg1"/>
                </a:solidFill>
              </a:endParaRPr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804ED06C-6E06-20B3-15DA-C257C356042B}"/>
                </a:ext>
              </a:extLst>
            </p:cNvPr>
            <p:cNvSpPr/>
            <p:nvPr/>
          </p:nvSpPr>
          <p:spPr>
            <a:xfrm>
              <a:off x="1404716" y="4372145"/>
              <a:ext cx="360000" cy="360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1905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solidFill>
                  <a:schemeClr val="bg1"/>
                </a:solidFill>
              </a:endParaRPr>
            </a:p>
          </p:txBody>
        </p:sp>
        <p:cxnSp>
          <p:nvCxnSpPr>
            <p:cNvPr id="331" name="Straight Arrow Connector 330">
              <a:extLst>
                <a:ext uri="{FF2B5EF4-FFF2-40B4-BE49-F238E27FC236}">
                  <a16:creationId xmlns:a16="http://schemas.microsoft.com/office/drawing/2014/main" id="{1DDFEFF1-C428-1264-A540-63C12241C0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7245" y="5202138"/>
              <a:ext cx="406209" cy="528467"/>
            </a:xfrm>
            <a:prstGeom prst="straightConnector1">
              <a:avLst/>
            </a:prstGeom>
            <a:ln w="19050">
              <a:solidFill>
                <a:srgbClr val="8585FF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Arrow Connector 332">
              <a:extLst>
                <a:ext uri="{FF2B5EF4-FFF2-40B4-BE49-F238E27FC236}">
                  <a16:creationId xmlns:a16="http://schemas.microsoft.com/office/drawing/2014/main" id="{6D26E1D3-40BF-31B1-7715-4177CBC388D8}"/>
                </a:ext>
              </a:extLst>
            </p:cNvPr>
            <p:cNvCxnSpPr>
              <a:cxnSpLocks/>
            </p:cNvCxnSpPr>
            <p:nvPr/>
          </p:nvCxnSpPr>
          <p:spPr>
            <a:xfrm>
              <a:off x="1721092" y="4591417"/>
              <a:ext cx="1144938" cy="1139808"/>
            </a:xfrm>
            <a:prstGeom prst="straightConnector1">
              <a:avLst/>
            </a:prstGeom>
            <a:ln w="19050">
              <a:solidFill>
                <a:srgbClr val="8585FF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Arrow Connector 334">
              <a:extLst>
                <a:ext uri="{FF2B5EF4-FFF2-40B4-BE49-F238E27FC236}">
                  <a16:creationId xmlns:a16="http://schemas.microsoft.com/office/drawing/2014/main" id="{AC85B538-FDF8-FB67-4210-F7DAC56AAD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59440" y="4172063"/>
              <a:ext cx="618267" cy="1529679"/>
            </a:xfrm>
            <a:prstGeom prst="straightConnector1">
              <a:avLst/>
            </a:prstGeom>
            <a:ln w="19050">
              <a:solidFill>
                <a:srgbClr val="8585FF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E7114061-1B3F-33D6-B2FA-A07B43BADB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607366" y="5787581"/>
              <a:ext cx="365760" cy="365760"/>
            </a:xfrm>
            <a:prstGeom prst="rect">
              <a:avLst/>
            </a:prstGeom>
            <a:solidFill>
              <a:srgbClr val="E6E6F8"/>
            </a:solidFill>
            <a:ln w="28575">
              <a:solidFill>
                <a:srgbClr val="0304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accent1"/>
                  </a:solidFill>
                  <a:latin typeface="Bai Jamjuree" pitchFamily="2" charset="-34"/>
                  <a:cs typeface="Bai Jamjuree" pitchFamily="2" charset="-34"/>
                </a:rPr>
                <a:t>0</a:t>
              </a:r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C24DD298-BD3C-7C5E-572D-9B3E58B04A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40976" y="5787581"/>
              <a:ext cx="365760" cy="3657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rgbClr val="0304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  <a:latin typeface="Bai Jamjuree" pitchFamily="2" charset="-34"/>
                  <a:cs typeface="Bai Jamjuree" pitchFamily="2" charset="-34"/>
                </a:rPr>
                <a:t>1</a:t>
              </a: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71748EFC-33FA-27B5-B3B6-4AF82523C2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414" y="5787581"/>
              <a:ext cx="365760" cy="365760"/>
            </a:xfrm>
            <a:prstGeom prst="rect">
              <a:avLst/>
            </a:prstGeom>
            <a:solidFill>
              <a:srgbClr val="E6E6F8"/>
            </a:solidFill>
            <a:ln w="28575">
              <a:solidFill>
                <a:srgbClr val="0304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accent1"/>
                  </a:solidFill>
                  <a:latin typeface="Bai Jamjuree" pitchFamily="2" charset="-34"/>
                  <a:cs typeface="Bai Jamjuree" pitchFamily="2" charset="-34"/>
                </a:rPr>
                <a:t>0</a:t>
              </a: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160CF71F-F9D4-FD11-B122-8885790FDE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1804" y="5787581"/>
              <a:ext cx="365760" cy="3657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rgbClr val="0304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  <a:latin typeface="Bai Jamjuree" pitchFamily="2" charset="-34"/>
                  <a:cs typeface="Bai Jamjuree" pitchFamily="2" charset="-34"/>
                </a:rPr>
                <a:t>1</a:t>
              </a: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1085F97A-6F77-67B0-B751-CA3FF07025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8864" y="5787581"/>
              <a:ext cx="365760" cy="365760"/>
            </a:xfrm>
            <a:prstGeom prst="rect">
              <a:avLst/>
            </a:prstGeom>
            <a:solidFill>
              <a:srgbClr val="E6E6F8"/>
            </a:solidFill>
            <a:ln w="28575">
              <a:solidFill>
                <a:srgbClr val="0304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accent1"/>
                  </a:solidFill>
                  <a:latin typeface="Bai Jamjuree" pitchFamily="2" charset="-34"/>
                  <a:cs typeface="Bai Jamjuree" pitchFamily="2" charset="-34"/>
                </a:rPr>
                <a:t>0</a:t>
              </a:r>
            </a:p>
          </p:txBody>
        </p:sp>
        <p:sp>
          <p:nvSpPr>
            <p:cNvPr id="405" name="Rectangle 404">
              <a:extLst>
                <a:ext uri="{FF2B5EF4-FFF2-40B4-BE49-F238E27FC236}">
                  <a16:creationId xmlns:a16="http://schemas.microsoft.com/office/drawing/2014/main" id="{C24B4DF5-447F-5E5C-B810-2E6A23C394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7094" y="5787581"/>
              <a:ext cx="365760" cy="365760"/>
            </a:xfrm>
            <a:prstGeom prst="rect">
              <a:avLst/>
            </a:prstGeom>
            <a:solidFill>
              <a:srgbClr val="E6E6F8"/>
            </a:solidFill>
            <a:ln w="28575">
              <a:solidFill>
                <a:srgbClr val="0304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accent1"/>
                  </a:solidFill>
                  <a:latin typeface="Bai Jamjuree" pitchFamily="2" charset="-34"/>
                  <a:cs typeface="Bai Jamjuree" pitchFamily="2" charset="-34"/>
                </a:rPr>
                <a:t>0</a:t>
              </a:r>
            </a:p>
          </p:txBody>
        </p:sp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5E02A646-0E74-A74E-D55E-A918104CCB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83484" y="5787581"/>
              <a:ext cx="365760" cy="365760"/>
            </a:xfrm>
            <a:prstGeom prst="rect">
              <a:avLst/>
            </a:prstGeom>
            <a:solidFill>
              <a:srgbClr val="E6E6F8"/>
            </a:solidFill>
            <a:ln w="28575">
              <a:solidFill>
                <a:srgbClr val="0304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accent1"/>
                  </a:solidFill>
                  <a:latin typeface="Bai Jamjuree" pitchFamily="2" charset="-34"/>
                  <a:cs typeface="Bai Jamjuree" pitchFamily="2" charset="-34"/>
                </a:rPr>
                <a:t>0</a:t>
              </a:r>
            </a:p>
          </p:txBody>
        </p:sp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BD1B6E8B-5999-C302-E830-D628CFB07B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40544" y="5787581"/>
              <a:ext cx="365760" cy="365760"/>
            </a:xfrm>
            <a:prstGeom prst="rect">
              <a:avLst/>
            </a:prstGeom>
            <a:solidFill>
              <a:srgbClr val="E6E6F8"/>
            </a:solidFill>
            <a:ln w="28575">
              <a:solidFill>
                <a:srgbClr val="0304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accent1"/>
                  </a:solidFill>
                  <a:latin typeface="Bai Jamjuree" pitchFamily="2" charset="-34"/>
                  <a:cs typeface="Bai Jamjuree" pitchFamily="2" charset="-34"/>
                </a:rPr>
                <a:t>0</a:t>
              </a:r>
            </a:p>
          </p:txBody>
        </p:sp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689BEAF0-DC01-0AB6-5C64-7FF61579B7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08775" y="5787581"/>
              <a:ext cx="365760" cy="365760"/>
            </a:xfrm>
            <a:prstGeom prst="rect">
              <a:avLst/>
            </a:prstGeom>
            <a:solidFill>
              <a:srgbClr val="E6E6F8"/>
            </a:solidFill>
            <a:ln w="28575">
              <a:solidFill>
                <a:srgbClr val="0304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accent1"/>
                  </a:solidFill>
                  <a:latin typeface="Bai Jamjuree" pitchFamily="2" charset="-34"/>
                  <a:cs typeface="Bai Jamjuree" pitchFamily="2" charset="-34"/>
                </a:rPr>
                <a:t>0</a:t>
              </a:r>
            </a:p>
          </p:txBody>
        </p: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67CCB5A3-45BE-67C0-247A-C583719001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75165" y="5787581"/>
              <a:ext cx="365760" cy="3657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rgbClr val="0304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/>
                  </a:solidFill>
                  <a:latin typeface="Bai Jamjuree" pitchFamily="2" charset="-34"/>
                  <a:cs typeface="Bai Jamjuree" pitchFamily="2" charset="-34"/>
                </a:rPr>
                <a:t>1</a:t>
              </a:r>
            </a:p>
          </p:txBody>
        </p: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B71A5BF2-4583-1273-A75A-CC8A758A987B}"/>
              </a:ext>
            </a:extLst>
          </p:cNvPr>
          <p:cNvGrpSpPr/>
          <p:nvPr/>
        </p:nvGrpSpPr>
        <p:grpSpPr>
          <a:xfrm>
            <a:off x="8344867" y="3457349"/>
            <a:ext cx="3576378" cy="2620374"/>
            <a:chOff x="8278963" y="3061557"/>
            <a:chExt cx="3576378" cy="2620374"/>
          </a:xfrm>
        </p:grpSpPr>
        <p:sp>
          <p:nvSpPr>
            <p:cNvPr id="174" name="文本框 10">
              <a:extLst>
                <a:ext uri="{FF2B5EF4-FFF2-40B4-BE49-F238E27FC236}">
                  <a16:creationId xmlns:a16="http://schemas.microsoft.com/office/drawing/2014/main" id="{36AAA3EE-94EC-99D7-F86D-15874A1C4B6E}"/>
                </a:ext>
              </a:extLst>
            </p:cNvPr>
            <p:cNvSpPr txBox="1"/>
            <p:nvPr/>
          </p:nvSpPr>
          <p:spPr>
            <a:xfrm>
              <a:off x="8278963" y="3061557"/>
              <a:ext cx="3576378" cy="9489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srgbClr val="CC7100"/>
                  </a:solidFill>
                  <a:effectLst/>
                  <a:uLnTx/>
                  <a:uFillTx/>
                  <a:latin typeface="Arial" panose="020B0604020202020204" pitchFamily="34" charset="0"/>
                  <a:ea typeface="Helvetica Neue" panose="02000503000000020004" pitchFamily="2" charset="0"/>
                  <a:cs typeface="Arial" panose="020B0604020202020204" pitchFamily="34" charset="0"/>
                </a:rPr>
                <a:t>Chemical Language</a:t>
              </a:r>
            </a:p>
            <a:p>
              <a:pPr marL="0" marR="0" lvl="0" indent="0" algn="l" defTabSz="914353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Helvetica Neue" panose="02000503000000020004" pitchFamily="2" charset="0"/>
                  <a:cs typeface="Arial" panose="020B0604020202020204" pitchFamily="34" charset="0"/>
                </a:rPr>
                <a:t>With </a:t>
              </a:r>
              <a:r>
                <a:rPr kumimoji="0" lang="en-US" altLang="zh-CN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Helvetica Neue" panose="02000503000000020004" pitchFamily="2" charset="0"/>
                  <a:cs typeface="Arial" panose="020B0604020202020204" pitchFamily="34" charset="0"/>
                </a:rPr>
                <a:t>ChemBERTa</a:t>
              </a:r>
              <a:r>
                <a:rPr kumimoji="0" lang="en-US" altLang="zh-CN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Helvetica Neue" panose="02000503000000020004" pitchFamily="2" charset="0"/>
                  <a:cs typeface="Arial" panose="020B0604020202020204" pitchFamily="34" charset="0"/>
                </a:rPr>
                <a:t>  &amp; </a:t>
              </a:r>
              <a:r>
                <a:rPr kumimoji="0" lang="en-US" altLang="zh-CN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Helvetica Neue" panose="02000503000000020004" pitchFamily="2" charset="0"/>
                  <a:cs typeface="Arial" panose="020B0604020202020204" pitchFamily="34" charset="0"/>
                </a:rPr>
                <a:t>PepDoRA</a:t>
              </a:r>
              <a:endParaRPr kumimoji="0" lang="en-US" altLang="zh-CN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endParaRPr>
            </a:p>
            <a:p>
              <a:pPr marL="0" marR="0" lvl="0" indent="0" algn="l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ai Jamjuree" pitchFamily="2" charset="-34"/>
                  <a:ea typeface="Helvetica Neue" panose="02000503000000020004" pitchFamily="2" charset="0"/>
                  <a:cs typeface="Bai Jamjuree" pitchFamily="2" charset="-34"/>
                </a:rPr>
                <a:t> </a:t>
              </a:r>
            </a:p>
          </p:txBody>
        </p: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E3D01CD8-3F42-AC19-2B1F-D9A129A5AF2E}"/>
                </a:ext>
              </a:extLst>
            </p:cNvPr>
            <p:cNvGrpSpPr/>
            <p:nvPr/>
          </p:nvGrpSpPr>
          <p:grpSpPr>
            <a:xfrm>
              <a:off x="8352629" y="4064904"/>
              <a:ext cx="3429057" cy="1617027"/>
              <a:chOff x="7939530" y="4046232"/>
              <a:chExt cx="3927033" cy="1762639"/>
            </a:xfrm>
          </p:grpSpPr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805906A8-CBBC-0F19-F856-A2DF1DA7EB3C}"/>
                  </a:ext>
                </a:extLst>
              </p:cNvPr>
              <p:cNvGrpSpPr/>
              <p:nvPr/>
            </p:nvGrpSpPr>
            <p:grpSpPr>
              <a:xfrm>
                <a:off x="11095008" y="4171622"/>
                <a:ext cx="771555" cy="1587159"/>
                <a:chOff x="10766348" y="20184292"/>
                <a:chExt cx="2136852" cy="3793926"/>
              </a:xfrm>
            </p:grpSpPr>
            <p:sp>
              <p:nvSpPr>
                <p:cNvPr id="285" name="Rounded Rectangle 1264">
                  <a:extLst>
                    <a:ext uri="{FF2B5EF4-FFF2-40B4-BE49-F238E27FC236}">
                      <a16:creationId xmlns:a16="http://schemas.microsoft.com/office/drawing/2014/main" id="{A150E2B1-4EA2-E644-11BF-80907F5DCBE8}"/>
                    </a:ext>
                  </a:extLst>
                </p:cNvPr>
                <p:cNvSpPr/>
                <p:nvPr/>
              </p:nvSpPr>
              <p:spPr>
                <a:xfrm>
                  <a:off x="10766348" y="20288845"/>
                  <a:ext cx="2136852" cy="565953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100">
                      <a:solidFill>
                        <a:schemeClr val="accent1"/>
                      </a:solidFill>
                      <a:latin typeface="Bai Jamjuree" pitchFamily="2" charset="-34"/>
                      <a:cs typeface="Bai Jamjuree" pitchFamily="2" charset="-34"/>
                    </a:rPr>
                    <a:t>-0.1246</a:t>
                  </a:r>
                  <a:endParaRPr lang="en-US" sz="900">
                    <a:solidFill>
                      <a:schemeClr val="accent1"/>
                    </a:solidFill>
                    <a:latin typeface="Bai Jamjuree" pitchFamily="2" charset="-34"/>
                    <a:cs typeface="Bai Jamjuree" pitchFamily="2" charset="-34"/>
                  </a:endParaRPr>
                </a:p>
              </p:txBody>
            </p:sp>
            <p:sp>
              <p:nvSpPr>
                <p:cNvPr id="286" name="Rounded Rectangle 1265">
                  <a:extLst>
                    <a:ext uri="{FF2B5EF4-FFF2-40B4-BE49-F238E27FC236}">
                      <a16:creationId xmlns:a16="http://schemas.microsoft.com/office/drawing/2014/main" id="{AE2E9FA1-A1C3-E100-F330-B7F77C5DA1E1}"/>
                    </a:ext>
                  </a:extLst>
                </p:cNvPr>
                <p:cNvSpPr/>
                <p:nvPr/>
              </p:nvSpPr>
              <p:spPr>
                <a:xfrm>
                  <a:off x="10766348" y="21040684"/>
                  <a:ext cx="2136852" cy="565953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100">
                      <a:solidFill>
                        <a:schemeClr val="accent1"/>
                      </a:solidFill>
                      <a:latin typeface="Bai Jamjuree" pitchFamily="2" charset="-34"/>
                      <a:cs typeface="Bai Jamjuree" pitchFamily="2" charset="-34"/>
                    </a:rPr>
                    <a:t>-0.2216</a:t>
                  </a:r>
                  <a:endParaRPr lang="en-US" sz="900">
                    <a:solidFill>
                      <a:schemeClr val="accent1"/>
                    </a:solidFill>
                    <a:latin typeface="Bai Jamjuree" pitchFamily="2" charset="-34"/>
                    <a:cs typeface="Bai Jamjuree" pitchFamily="2" charset="-34"/>
                  </a:endParaRPr>
                </a:p>
              </p:txBody>
            </p:sp>
            <p:sp>
              <p:nvSpPr>
                <p:cNvPr id="287" name="Rounded Rectangle 1266">
                  <a:extLst>
                    <a:ext uri="{FF2B5EF4-FFF2-40B4-BE49-F238E27FC236}">
                      <a16:creationId xmlns:a16="http://schemas.microsoft.com/office/drawing/2014/main" id="{6A517603-D884-BB11-7B9F-B90F59C76D43}"/>
                    </a:ext>
                  </a:extLst>
                </p:cNvPr>
                <p:cNvSpPr/>
                <p:nvPr/>
              </p:nvSpPr>
              <p:spPr>
                <a:xfrm>
                  <a:off x="10766348" y="21792524"/>
                  <a:ext cx="2136852" cy="565953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100">
                      <a:solidFill>
                        <a:schemeClr val="accent1"/>
                      </a:solidFill>
                      <a:latin typeface="Bai Jamjuree" pitchFamily="2" charset="-34"/>
                      <a:cs typeface="Bai Jamjuree" pitchFamily="2" charset="-34"/>
                    </a:rPr>
                    <a:t>0.5246</a:t>
                  </a:r>
                  <a:endParaRPr lang="en-US" sz="900">
                    <a:solidFill>
                      <a:schemeClr val="accent1"/>
                    </a:solidFill>
                    <a:latin typeface="Bai Jamjuree" pitchFamily="2" charset="-34"/>
                    <a:cs typeface="Bai Jamjuree" pitchFamily="2" charset="-34"/>
                  </a:endParaRPr>
                </a:p>
              </p:txBody>
            </p:sp>
            <p:sp>
              <p:nvSpPr>
                <p:cNvPr id="288" name="Rounded Rectangle 1267">
                  <a:extLst>
                    <a:ext uri="{FF2B5EF4-FFF2-40B4-BE49-F238E27FC236}">
                      <a16:creationId xmlns:a16="http://schemas.microsoft.com/office/drawing/2014/main" id="{46D1EFD6-A267-865C-F500-D43C9B52295E}"/>
                    </a:ext>
                  </a:extLst>
                </p:cNvPr>
                <p:cNvSpPr/>
                <p:nvPr/>
              </p:nvSpPr>
              <p:spPr>
                <a:xfrm>
                  <a:off x="10766348" y="22544363"/>
                  <a:ext cx="2136852" cy="565953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100">
                      <a:solidFill>
                        <a:schemeClr val="accent1"/>
                      </a:solidFill>
                      <a:latin typeface="Bai Jamjuree" pitchFamily="2" charset="-34"/>
                      <a:cs typeface="Bai Jamjuree" pitchFamily="2" charset="-34"/>
                    </a:rPr>
                    <a:t>1.1276</a:t>
                  </a:r>
                  <a:endParaRPr lang="en-US" sz="900">
                    <a:solidFill>
                      <a:schemeClr val="accent1"/>
                    </a:solidFill>
                    <a:latin typeface="Bai Jamjuree" pitchFamily="2" charset="-34"/>
                    <a:cs typeface="Bai Jamjuree" pitchFamily="2" charset="-34"/>
                  </a:endParaRPr>
                </a:p>
              </p:txBody>
            </p:sp>
            <p:sp>
              <p:nvSpPr>
                <p:cNvPr id="289" name="Rounded Rectangle 1268">
                  <a:extLst>
                    <a:ext uri="{FF2B5EF4-FFF2-40B4-BE49-F238E27FC236}">
                      <a16:creationId xmlns:a16="http://schemas.microsoft.com/office/drawing/2014/main" id="{068DDCCD-12B6-A1D3-03A6-282F67A0E360}"/>
                    </a:ext>
                  </a:extLst>
                </p:cNvPr>
                <p:cNvSpPr/>
                <p:nvPr/>
              </p:nvSpPr>
              <p:spPr>
                <a:xfrm>
                  <a:off x="10766348" y="23296224"/>
                  <a:ext cx="2136852" cy="565953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1100">
                      <a:solidFill>
                        <a:schemeClr val="accent1"/>
                      </a:solidFill>
                      <a:latin typeface="Bai Jamjuree" pitchFamily="2" charset="-34"/>
                      <a:cs typeface="Bai Jamjuree" pitchFamily="2" charset="-34"/>
                    </a:rPr>
                    <a:t>-0.1036</a:t>
                  </a:r>
                  <a:endParaRPr lang="en-US" sz="900">
                    <a:solidFill>
                      <a:schemeClr val="accent1"/>
                    </a:solidFill>
                    <a:latin typeface="Bai Jamjuree" pitchFamily="2" charset="-34"/>
                    <a:cs typeface="Bai Jamjuree" pitchFamily="2" charset="-34"/>
                  </a:endParaRPr>
                </a:p>
              </p:txBody>
            </p:sp>
            <p:sp>
              <p:nvSpPr>
                <p:cNvPr id="290" name="Left Bracket 289">
                  <a:extLst>
                    <a:ext uri="{FF2B5EF4-FFF2-40B4-BE49-F238E27FC236}">
                      <a16:creationId xmlns:a16="http://schemas.microsoft.com/office/drawing/2014/main" id="{EC074D3D-F8BB-5FF8-50CB-F238F5D77F53}"/>
                    </a:ext>
                  </a:extLst>
                </p:cNvPr>
                <p:cNvSpPr/>
                <p:nvPr/>
              </p:nvSpPr>
              <p:spPr>
                <a:xfrm>
                  <a:off x="10799289" y="20195760"/>
                  <a:ext cx="457630" cy="3782458"/>
                </a:xfrm>
                <a:prstGeom prst="leftBracket">
                  <a:avLst>
                    <a:gd name="adj" fmla="val 0"/>
                  </a:avLst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600"/>
                </a:p>
              </p:txBody>
            </p:sp>
            <p:sp>
              <p:nvSpPr>
                <p:cNvPr id="291" name="Left Bracket 290">
                  <a:extLst>
                    <a:ext uri="{FF2B5EF4-FFF2-40B4-BE49-F238E27FC236}">
                      <a16:creationId xmlns:a16="http://schemas.microsoft.com/office/drawing/2014/main" id="{CF9B615F-845E-9311-2ADD-B28C80733872}"/>
                    </a:ext>
                  </a:extLst>
                </p:cNvPr>
                <p:cNvSpPr/>
                <p:nvPr/>
              </p:nvSpPr>
              <p:spPr>
                <a:xfrm flipH="1">
                  <a:off x="12414124" y="20184292"/>
                  <a:ext cx="457630" cy="3782462"/>
                </a:xfrm>
                <a:prstGeom prst="leftBracket">
                  <a:avLst>
                    <a:gd name="adj" fmla="val 0"/>
                  </a:avLst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600"/>
                </a:p>
              </p:txBody>
            </p:sp>
          </p:grpSp>
          <p:cxnSp>
            <p:nvCxnSpPr>
              <p:cNvPr id="292" name="Straight Arrow Connector 291">
                <a:extLst>
                  <a:ext uri="{FF2B5EF4-FFF2-40B4-BE49-F238E27FC236}">
                    <a16:creationId xmlns:a16="http://schemas.microsoft.com/office/drawing/2014/main" id="{2610AB64-54F7-FBB6-FDEB-0B6887AD8C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70071" y="4849438"/>
                <a:ext cx="364026" cy="0"/>
              </a:xfrm>
              <a:prstGeom prst="straightConnector1">
                <a:avLst/>
              </a:prstGeom>
              <a:ln w="28575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7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137B3C84-0002-FCD6-976A-08958B40C2A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78396" y="4046232"/>
                <a:ext cx="657010" cy="1327657"/>
              </a:xfrm>
              <a:prstGeom prst="rect">
                <a:avLst/>
              </a:prstGeom>
              <a:solidFill>
                <a:srgbClr val="E6E6F9"/>
              </a:solidFill>
              <a:ln w="28575"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89B7D79B-2BEF-6BB7-9968-76CD3FD89773}"/>
                  </a:ext>
                </a:extLst>
              </p:cNvPr>
              <p:cNvGrpSpPr/>
              <p:nvPr/>
            </p:nvGrpSpPr>
            <p:grpSpPr>
              <a:xfrm>
                <a:off x="9688356" y="4191223"/>
                <a:ext cx="681906" cy="1327657"/>
                <a:chOff x="9055307" y="20517381"/>
                <a:chExt cx="1443978" cy="3542248"/>
              </a:xfrm>
            </p:grpSpPr>
            <p:sp>
              <p:nvSpPr>
                <p:cNvPr id="295" name="Rectangle 294">
                  <a:extLst>
                    <a:ext uri="{FF2B5EF4-FFF2-40B4-BE49-F238E27FC236}">
                      <a16:creationId xmlns:a16="http://schemas.microsoft.com/office/drawing/2014/main" id="{36EA1002-6B41-FEE3-3CE3-1ACA836A605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055307" y="20517381"/>
                  <a:ext cx="1438318" cy="3542248"/>
                </a:xfrm>
                <a:prstGeom prst="rect">
                  <a:avLst/>
                </a:prstGeom>
                <a:solidFill>
                  <a:srgbClr val="E6E6F9"/>
                </a:solidFill>
                <a:ln w="28575"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00"/>
                </a:p>
              </p:txBody>
            </p:sp>
            <p:grpSp>
              <p:nvGrpSpPr>
                <p:cNvPr id="296" name="Group 295">
                  <a:extLst>
                    <a:ext uri="{FF2B5EF4-FFF2-40B4-BE49-F238E27FC236}">
                      <a16:creationId xmlns:a16="http://schemas.microsoft.com/office/drawing/2014/main" id="{00FC1C0A-4689-6F16-8909-A8C84B50718F}"/>
                    </a:ext>
                  </a:extLst>
                </p:cNvPr>
                <p:cNvGrpSpPr/>
                <p:nvPr/>
              </p:nvGrpSpPr>
              <p:grpSpPr>
                <a:xfrm>
                  <a:off x="9062260" y="21209516"/>
                  <a:ext cx="1437025" cy="1771124"/>
                  <a:chOff x="9735127" y="21901650"/>
                  <a:chExt cx="1515704" cy="2250833"/>
                </a:xfrm>
                <a:solidFill>
                  <a:schemeClr val="accent1">
                    <a:lumMod val="60000"/>
                    <a:lumOff val="40000"/>
                  </a:schemeClr>
                </a:solidFill>
              </p:grpSpPr>
              <p:sp>
                <p:nvSpPr>
                  <p:cNvPr id="297" name="Trapezoid 296">
                    <a:extLst>
                      <a:ext uri="{FF2B5EF4-FFF2-40B4-BE49-F238E27FC236}">
                        <a16:creationId xmlns:a16="http://schemas.microsoft.com/office/drawing/2014/main" id="{310C6A03-BD97-0780-E63D-1EF8F9F226E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988960" y="22647819"/>
                    <a:ext cx="2250831" cy="758498"/>
                  </a:xfrm>
                  <a:prstGeom prst="trapezoid">
                    <a:avLst>
                      <a:gd name="adj" fmla="val 92561"/>
                    </a:avLst>
                  </a:prstGeom>
                  <a:grpFill/>
                  <a:ln w="28575">
                    <a:solidFill>
                      <a:srgbClr val="0304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/>
                  </a:p>
                </p:txBody>
              </p:sp>
              <p:sp>
                <p:nvSpPr>
                  <p:cNvPr id="298" name="Trapezoid 297">
                    <a:extLst>
                      <a:ext uri="{FF2B5EF4-FFF2-40B4-BE49-F238E27FC236}">
                        <a16:creationId xmlns:a16="http://schemas.microsoft.com/office/drawing/2014/main" id="{0788A23E-B7AE-C4A9-1A4D-9219953C0AD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746166" y="22647817"/>
                    <a:ext cx="2250831" cy="758498"/>
                  </a:xfrm>
                  <a:prstGeom prst="trapezoid">
                    <a:avLst>
                      <a:gd name="adj" fmla="val 92561"/>
                    </a:avLst>
                  </a:prstGeom>
                  <a:grpFill/>
                  <a:ln w="28575">
                    <a:solidFill>
                      <a:srgbClr val="0304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/>
                  </a:p>
                </p:txBody>
              </p:sp>
            </p:grpSp>
          </p:grpSp>
          <p:grpSp>
            <p:nvGrpSpPr>
              <p:cNvPr id="299" name="Group 298">
                <a:extLst>
                  <a:ext uri="{FF2B5EF4-FFF2-40B4-BE49-F238E27FC236}">
                    <a16:creationId xmlns:a16="http://schemas.microsoft.com/office/drawing/2014/main" id="{B5D40B93-6211-8FE0-0DB6-35BB936898E0}"/>
                  </a:ext>
                </a:extLst>
              </p:cNvPr>
              <p:cNvGrpSpPr/>
              <p:nvPr/>
            </p:nvGrpSpPr>
            <p:grpSpPr>
              <a:xfrm>
                <a:off x="9819443" y="4336218"/>
                <a:ext cx="685220" cy="1327657"/>
                <a:chOff x="9395217" y="20904236"/>
                <a:chExt cx="1447221" cy="3542248"/>
              </a:xfrm>
            </p:grpSpPr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69F44EE6-2FDD-805A-7506-7C173999BD1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395217" y="20904236"/>
                  <a:ext cx="1438318" cy="3542248"/>
                </a:xfrm>
                <a:prstGeom prst="rect">
                  <a:avLst/>
                </a:prstGeom>
                <a:solidFill>
                  <a:srgbClr val="E6E6F9"/>
                </a:solidFill>
                <a:ln w="28575"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00"/>
                </a:p>
              </p:txBody>
            </p:sp>
            <p:grpSp>
              <p:nvGrpSpPr>
                <p:cNvPr id="301" name="Group 300">
                  <a:extLst>
                    <a:ext uri="{FF2B5EF4-FFF2-40B4-BE49-F238E27FC236}">
                      <a16:creationId xmlns:a16="http://schemas.microsoft.com/office/drawing/2014/main" id="{B2B773B1-F595-F8CB-1207-5C4E1841BFEC}"/>
                    </a:ext>
                  </a:extLst>
                </p:cNvPr>
                <p:cNvGrpSpPr/>
                <p:nvPr/>
              </p:nvGrpSpPr>
              <p:grpSpPr>
                <a:xfrm>
                  <a:off x="9405412" y="21457139"/>
                  <a:ext cx="1437026" cy="1771124"/>
                  <a:chOff x="9735126" y="21901650"/>
                  <a:chExt cx="1515705" cy="2250833"/>
                </a:xfrm>
                <a:solidFill>
                  <a:schemeClr val="accent1">
                    <a:lumMod val="60000"/>
                    <a:lumOff val="40000"/>
                  </a:schemeClr>
                </a:solidFill>
              </p:grpSpPr>
              <p:sp>
                <p:nvSpPr>
                  <p:cNvPr id="302" name="Trapezoid 301">
                    <a:extLst>
                      <a:ext uri="{FF2B5EF4-FFF2-40B4-BE49-F238E27FC236}">
                        <a16:creationId xmlns:a16="http://schemas.microsoft.com/office/drawing/2014/main" id="{DDF7748D-7F8B-C02F-BE68-5D17D0DF302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988960" y="22647819"/>
                    <a:ext cx="2250830" cy="758498"/>
                  </a:xfrm>
                  <a:prstGeom prst="trapezoid">
                    <a:avLst>
                      <a:gd name="adj" fmla="val 92561"/>
                    </a:avLst>
                  </a:prstGeom>
                  <a:grpFill/>
                  <a:ln w="28575">
                    <a:solidFill>
                      <a:srgbClr val="0304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/>
                  </a:p>
                </p:txBody>
              </p:sp>
              <p:sp>
                <p:nvSpPr>
                  <p:cNvPr id="303" name="Trapezoid 302">
                    <a:extLst>
                      <a:ext uri="{FF2B5EF4-FFF2-40B4-BE49-F238E27FC236}">
                        <a16:creationId xmlns:a16="http://schemas.microsoft.com/office/drawing/2014/main" id="{ED0E5D7D-D768-3DCA-5DD5-FBC893C0184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9746166" y="22647817"/>
                    <a:ext cx="2250831" cy="758498"/>
                  </a:xfrm>
                  <a:prstGeom prst="trapezoid">
                    <a:avLst>
                      <a:gd name="adj" fmla="val 92561"/>
                    </a:avLst>
                  </a:prstGeom>
                  <a:grpFill/>
                  <a:ln w="28575">
                    <a:solidFill>
                      <a:srgbClr val="030496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/>
                  </a:p>
                </p:txBody>
              </p:sp>
            </p:grpSp>
          </p:grp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EDF0BB78-4C0F-B6E1-784B-5DF32D05734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50532" y="4481214"/>
                <a:ext cx="626994" cy="1327657"/>
              </a:xfrm>
              <a:prstGeom prst="rect">
                <a:avLst/>
              </a:prstGeom>
              <a:solidFill>
                <a:srgbClr val="E6E6F9"/>
              </a:solidFill>
              <a:ln w="28575"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"/>
              </a:p>
            </p:txBody>
          </p: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CA98466-D25A-5243-8CF0-DDD7F4B474DC}"/>
                  </a:ext>
                </a:extLst>
              </p:cNvPr>
              <p:cNvGrpSpPr/>
              <p:nvPr/>
            </p:nvGrpSpPr>
            <p:grpSpPr>
              <a:xfrm>
                <a:off x="9953551" y="4710060"/>
                <a:ext cx="617879" cy="663829"/>
                <a:chOff x="9735127" y="21901650"/>
                <a:chExt cx="1515704" cy="2250833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306" name="Trapezoid 305">
                  <a:extLst>
                    <a:ext uri="{FF2B5EF4-FFF2-40B4-BE49-F238E27FC236}">
                      <a16:creationId xmlns:a16="http://schemas.microsoft.com/office/drawing/2014/main" id="{A0A7CF55-0BB3-A14F-EBAB-629F1FDE5CAA}"/>
                    </a:ext>
                  </a:extLst>
                </p:cNvPr>
                <p:cNvSpPr/>
                <p:nvPr/>
              </p:nvSpPr>
              <p:spPr>
                <a:xfrm rot="5400000">
                  <a:off x="8988960" y="22647819"/>
                  <a:ext cx="2250831" cy="758498"/>
                </a:xfrm>
                <a:prstGeom prst="trapezoid">
                  <a:avLst>
                    <a:gd name="adj" fmla="val 92561"/>
                  </a:avLst>
                </a:prstGeom>
                <a:grpFill/>
                <a:ln w="28575"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00"/>
                </a:p>
              </p:txBody>
            </p:sp>
            <p:sp>
              <p:nvSpPr>
                <p:cNvPr id="307" name="Trapezoid 306">
                  <a:extLst>
                    <a:ext uri="{FF2B5EF4-FFF2-40B4-BE49-F238E27FC236}">
                      <a16:creationId xmlns:a16="http://schemas.microsoft.com/office/drawing/2014/main" id="{77FEE371-E0CC-5D8D-529F-BE46FF10F3B1}"/>
                    </a:ext>
                  </a:extLst>
                </p:cNvPr>
                <p:cNvSpPr/>
                <p:nvPr/>
              </p:nvSpPr>
              <p:spPr>
                <a:xfrm rot="16200000">
                  <a:off x="9746166" y="22647817"/>
                  <a:ext cx="2250831" cy="758498"/>
                </a:xfrm>
                <a:prstGeom prst="trapezoid">
                  <a:avLst>
                    <a:gd name="adj" fmla="val 92561"/>
                  </a:avLst>
                </a:prstGeom>
                <a:grpFill/>
                <a:ln w="28575">
                  <a:solidFill>
                    <a:srgbClr val="03049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00"/>
                </a:p>
              </p:txBody>
            </p:sp>
          </p:grp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ECCCA40B-4A8D-F88B-08D3-C354A54E4DD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50532" y="5467050"/>
                <a:ext cx="626994" cy="263948"/>
              </a:xfrm>
              <a:prstGeom prst="rect">
                <a:avLst/>
              </a:prstGeom>
              <a:solidFill>
                <a:srgbClr val="4848FF"/>
              </a:solidFill>
              <a:ln w="28575">
                <a:solidFill>
                  <a:srgbClr val="0304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Bai Jamjuree" pitchFamily="2" charset="-34"/>
                  <a:cs typeface="Bai Jamjuree" pitchFamily="2" charset="-34"/>
                </a:endParaRPr>
              </a:p>
            </p:txBody>
          </p:sp>
          <p:cxnSp>
            <p:nvCxnSpPr>
              <p:cNvPr id="311" name="Straight Arrow Connector 310">
                <a:extLst>
                  <a:ext uri="{FF2B5EF4-FFF2-40B4-BE49-F238E27FC236}">
                    <a16:creationId xmlns:a16="http://schemas.microsoft.com/office/drawing/2014/main" id="{429E9F0D-AA08-4916-D15A-70B7A0071E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42307" y="4849428"/>
                <a:ext cx="364026" cy="0"/>
              </a:xfrm>
              <a:prstGeom prst="straightConnector1">
                <a:avLst/>
              </a:prstGeom>
              <a:ln w="3175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7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4" name="TextBox 413">
                <a:extLst>
                  <a:ext uri="{FF2B5EF4-FFF2-40B4-BE49-F238E27FC236}">
                    <a16:creationId xmlns:a16="http://schemas.microsoft.com/office/drawing/2014/main" id="{57309273-61F3-290B-6F08-451B646FF3E1}"/>
                  </a:ext>
                </a:extLst>
              </p:cNvPr>
              <p:cNvSpPr txBox="1"/>
              <p:nvPr/>
            </p:nvSpPr>
            <p:spPr>
              <a:xfrm>
                <a:off x="7939530" y="4274226"/>
                <a:ext cx="1713901" cy="1274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>
                    <a:solidFill>
                      <a:srgbClr val="3131BA"/>
                    </a:solidFill>
                    <a:latin typeface="Arial Narrow" panose="020B0606020202030204" pitchFamily="34" charset="0"/>
                    <a:cs typeface="Bai Jamjuree" pitchFamily="2" charset="-34"/>
                  </a:rPr>
                  <a:t>N[C@@H](Cc1ccc</a:t>
                </a:r>
              </a:p>
              <a:p>
                <a:r>
                  <a:rPr lang="en-US" sz="1400">
                    <a:solidFill>
                      <a:srgbClr val="3131BA"/>
                    </a:solidFill>
                    <a:latin typeface="Arial Narrow" panose="020B0606020202030204" pitchFamily="34" charset="0"/>
                    <a:cs typeface="Bai Jamjuree" pitchFamily="2" charset="-34"/>
                  </a:rPr>
                  <a:t>cc1)C(=O)N[C@</a:t>
                </a:r>
              </a:p>
              <a:p>
                <a:r>
                  <a:rPr lang="en-US" sz="1400">
                    <a:solidFill>
                      <a:srgbClr val="3131BA"/>
                    </a:solidFill>
                    <a:latin typeface="Arial Narrow" panose="020B0606020202030204" pitchFamily="34" charset="0"/>
                    <a:cs typeface="Bai Jamjuree" pitchFamily="2" charset="-34"/>
                  </a:rPr>
                  <a:t>@H](CCSC)C</a:t>
                </a:r>
              </a:p>
              <a:p>
                <a:r>
                  <a:rPr lang="en-US" sz="1400">
                    <a:solidFill>
                      <a:srgbClr val="3131BA"/>
                    </a:solidFill>
                    <a:latin typeface="Arial Narrow" panose="020B0606020202030204" pitchFamily="34" charset="0"/>
                    <a:cs typeface="Bai Jamjuree" pitchFamily="2" charset="-34"/>
                  </a:rPr>
                  <a:t>(=O)N[C@@H]</a:t>
                </a:r>
              </a:p>
              <a:p>
                <a:r>
                  <a:rPr lang="en-US" sz="1400">
                    <a:solidFill>
                      <a:srgbClr val="3131BA"/>
                    </a:solidFill>
                    <a:latin typeface="Arial Narrow" panose="020B0606020202030204" pitchFamily="34" charset="0"/>
                    <a:cs typeface="Bai Jamjuree" pitchFamily="2" charset="-34"/>
                  </a:rPr>
                  <a:t>(CC(C)C)C(=O)O</a:t>
                </a:r>
              </a:p>
            </p:txBody>
          </p:sp>
        </p:grp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D35ED613-48AE-43DC-18D7-5C1FFCC8C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243" y="1293744"/>
            <a:ext cx="2784622" cy="17612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8FBB22-9F47-7BFA-7CF6-C63AB66570D5}"/>
              </a:ext>
            </a:extLst>
          </p:cNvPr>
          <p:cNvSpPr txBox="1"/>
          <p:nvPr/>
        </p:nvSpPr>
        <p:spPr>
          <a:xfrm>
            <a:off x="10556099" y="5285394"/>
            <a:ext cx="286247" cy="2130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sz="1000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0115E-163F-7B60-8A6A-4B258B947846}"/>
              </a:ext>
            </a:extLst>
          </p:cNvPr>
          <p:cNvSpPr txBox="1"/>
          <p:nvPr/>
        </p:nvSpPr>
        <p:spPr>
          <a:xfrm>
            <a:off x="10252796" y="5302417"/>
            <a:ext cx="286247" cy="2130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sz="1000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16709F-F2E0-413A-2E07-72646808511B}"/>
              </a:ext>
            </a:extLst>
          </p:cNvPr>
          <p:cNvSpPr txBox="1"/>
          <p:nvPr/>
        </p:nvSpPr>
        <p:spPr>
          <a:xfrm>
            <a:off x="10412975" y="5813463"/>
            <a:ext cx="286247" cy="2130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sz="1000">
                <a:solidFill>
                  <a:schemeClr val="bg1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7766384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F674-D976-C379-F19E-3EC33B4A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F3C8-C3FC-196A-75CB-ADC1B0CC5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vs Multi-task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9FC07-B294-3147-4F1C-F21AA38B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031CB-E0DC-49E5-82DD-46BACB801860}" type="datetime1">
              <a:rPr lang="en-GB" smtClean="0"/>
              <a:t>11/09/2026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24862-9620-D458-936F-38DE1784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CB844-2054-B7D2-E2DE-B1CFFD6A4316}"/>
              </a:ext>
            </a:extLst>
          </p:cNvPr>
          <p:cNvSpPr txBox="1"/>
          <p:nvPr/>
        </p:nvSpPr>
        <p:spPr>
          <a:xfrm>
            <a:off x="325800" y="854015"/>
            <a:ext cx="8574657" cy="154412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sz="2000"/>
              <a:t>Multi-task learning: model perform </a:t>
            </a:r>
            <a:r>
              <a:rPr lang="en-GB" sz="2000" b="1"/>
              <a:t>multiple tasks simultaneously</a:t>
            </a:r>
            <a:r>
              <a:rPr lang="en-GB" sz="2000"/>
              <a:t>.</a:t>
            </a:r>
          </a:p>
          <a:p>
            <a:pPr marL="285750" indent="-285750" algn="l"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GB" sz="2000"/>
              <a:t>Help where tasks are related or they can benefit from shared representations</a:t>
            </a:r>
          </a:p>
          <a:p>
            <a:pPr marL="285750" indent="-285750" algn="l"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GB" sz="2000"/>
              <a:t>Better generalisation across all tasks</a:t>
            </a:r>
          </a:p>
          <a:p>
            <a:pPr marL="285750" indent="-285750" algn="l"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GB" sz="2000"/>
              <a:t>Less memory to store model weights</a:t>
            </a:r>
          </a:p>
          <a:p>
            <a:pPr marL="285750" indent="-285750" algn="l">
              <a:lnSpc>
                <a:spcPct val="105000"/>
              </a:lnSpc>
              <a:buFont typeface="Wingdings" panose="05000000000000000000" pitchFamily="2" charset="2"/>
              <a:buChar char="ü"/>
            </a:pPr>
            <a:r>
              <a:rPr lang="en-GB" sz="2000"/>
              <a:t>Less resource during training </a:t>
            </a:r>
            <a:endParaRPr lang="en-GB" sz="2000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8540DC-35DC-49D3-AA32-16C5C5A63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499" y="2115982"/>
            <a:ext cx="2483348" cy="42777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82B1E7-5708-AB0B-A576-2B1C77ACD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334" y="3575530"/>
            <a:ext cx="2801632" cy="13586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7AF8A61F-ACFB-CA3B-565A-1DAA0604CAD6}"/>
                  </a:ext>
                </a:extLst>
              </p:cNvPr>
              <p:cNvSpPr txBox="1"/>
              <p:nvPr/>
            </p:nvSpPr>
            <p:spPr>
              <a:xfrm>
                <a:off x="10131150" y="662274"/>
                <a:ext cx="1388023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l"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it-GB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it-GB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it-GB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it-GB" sz="2000" b="1" i="1">
                  <a:solidFill>
                    <a:schemeClr val="tx1"/>
                  </a:solidFill>
                </a:endParaRPr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it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it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it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it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GB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it-GB" sz="2000" b="1" i="1"/>
              </a:p>
              <a:p>
                <a:pPr>
                  <a:lnSpc>
                    <a:spcPct val="105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sub>
                      </m:sSub>
                      <m:r>
                        <a:rPr lang="it-GB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it-GB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it-GB" sz="2000" b="1" i="1"/>
              </a:p>
              <a:p>
                <a:pPr algn="l">
                  <a:lnSpc>
                    <a:spcPct val="105000"/>
                  </a:lnSpc>
                </a:pPr>
                <a:endParaRPr lang="it-GB" sz="2000" b="1" i="1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05000"/>
                  </a:lnSpc>
                </a:pPr>
                <a:endParaRPr lang="it-GB" sz="2000" b="1" i="1"/>
              </a:p>
              <a:p>
                <a:pPr algn="l">
                  <a:lnSpc>
                    <a:spcPct val="105000"/>
                  </a:lnSpc>
                </a:pPr>
                <a:endParaRPr lang="it-GB" sz="2000" b="1" i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7AF8A61F-ACFB-CA3B-565A-1DAA0604C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150" y="662274"/>
                <a:ext cx="1388023" cy="914400"/>
              </a:xfrm>
              <a:prstGeom prst="rect">
                <a:avLst/>
              </a:prstGeom>
              <a:blipFill>
                <a:blip r:embed="rId4"/>
                <a:stretch>
                  <a:fillRect l="-8108" r="-14414" b="-17808"/>
                </a:stretch>
              </a:blipFill>
            </p:spPr>
            <p:txBody>
              <a:bodyPr/>
              <a:lstStyle/>
              <a:p>
                <a:r>
                  <a:rPr lang="it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63322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A0589-510D-B520-B72C-713EFD2E7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AEDE-BAFF-0D81-0309-CD177E9E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 anchor="t">
            <a:normAutofit/>
          </a:bodyPr>
          <a:lstStyle/>
          <a:p>
            <a:r>
              <a:rPr lang="en-GB" err="1"/>
              <a:t>Chemprop</a:t>
            </a:r>
            <a:endParaRPr lang="en-GB"/>
          </a:p>
        </p:txBody>
      </p:sp>
      <p:pic>
        <p:nvPicPr>
          <p:cNvPr id="9" name="New picture">
            <a:extLst>
              <a:ext uri="{FF2B5EF4-FFF2-40B4-BE49-F238E27FC236}">
                <a16:creationId xmlns:a16="http://schemas.microsoft.com/office/drawing/2014/main" id="{7D28470D-3B62-F97C-AD4F-7CAB415BE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7" y="2262233"/>
            <a:ext cx="7946744" cy="2602558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DC30A-EBC9-4475-DF03-84E8BADA06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E3AC62B7-F8E8-4065-A21D-90A8A970CBC5}" type="datetime1">
              <a:rPr lang="en-GB" smtClean="0"/>
              <a:pPr>
                <a:spcAft>
                  <a:spcPts val="600"/>
                </a:spcAft>
              </a:pPr>
              <a:t>11/09/2026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A291A-7469-83E5-9C45-87979111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B065E23-09F7-2185-A2F3-0CF88740474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Model architecture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01DC942-4A8A-9CFA-A8D1-10CC08D4A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80"/>
          <a:stretch>
            <a:fillRect/>
          </a:stretch>
        </p:blipFill>
        <p:spPr>
          <a:xfrm>
            <a:off x="7908843" y="1053093"/>
            <a:ext cx="4079047" cy="502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037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6FB3-612B-E951-03F5-70743CA6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 Same Side Corner Rectangle 17">
            <a:extLst>
              <a:ext uri="{FF2B5EF4-FFF2-40B4-BE49-F238E27FC236}">
                <a16:creationId xmlns:a16="http://schemas.microsoft.com/office/drawing/2014/main" id="{4EDA3ED0-E7E7-513A-0B5F-927E82AA940B}"/>
              </a:ext>
            </a:extLst>
          </p:cNvPr>
          <p:cNvSpPr/>
          <p:nvPr/>
        </p:nvSpPr>
        <p:spPr>
          <a:xfrm rot="16200000">
            <a:off x="286230" y="1371645"/>
            <a:ext cx="4119826" cy="4450714"/>
          </a:xfrm>
          <a:prstGeom prst="roundRect">
            <a:avLst>
              <a:gd name="adj" fmla="val 158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8C506-53DA-DC58-2DA3-1699C2868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Pretraining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337E-671C-E496-BB07-4D249E6CF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2B7-F8E8-4065-A21D-90A8A970CBC5}" type="datetime1">
              <a:rPr lang="en-GB" smtClean="0"/>
              <a:t>11/09/2026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4A355-59AC-C2C3-6206-33D5B55F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7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7EAF638-0ECD-659E-37EA-AE509A4A699D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/>
              <a:t>Peptide labels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1463383-A452-E007-B8C6-D1A425B80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89" y="1735630"/>
            <a:ext cx="4142232" cy="3681984"/>
          </a:xfrm>
          <a:prstGeom prst="rect">
            <a:avLst/>
          </a:prstGeom>
        </p:spPr>
      </p:pic>
      <p:sp>
        <p:nvSpPr>
          <p:cNvPr id="8" name="Round Same Side Corner Rectangle 17">
            <a:extLst>
              <a:ext uri="{FF2B5EF4-FFF2-40B4-BE49-F238E27FC236}">
                <a16:creationId xmlns:a16="http://schemas.microsoft.com/office/drawing/2014/main" id="{DDEBCA56-9397-2C5E-7B55-4A5CB836C23A}"/>
              </a:ext>
            </a:extLst>
          </p:cNvPr>
          <p:cNvSpPr/>
          <p:nvPr/>
        </p:nvSpPr>
        <p:spPr>
          <a:xfrm rot="16200000">
            <a:off x="7076028" y="161765"/>
            <a:ext cx="2617283" cy="7249749"/>
          </a:xfrm>
          <a:prstGeom prst="roundRect">
            <a:avLst>
              <a:gd name="adj" fmla="val 357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100">
            <a:extLst>
              <a:ext uri="{FF2B5EF4-FFF2-40B4-BE49-F238E27FC236}">
                <a16:creationId xmlns:a16="http://schemas.microsoft.com/office/drawing/2014/main" id="{B22ED2E9-B8E2-9E67-35B3-5D1750757217}"/>
              </a:ext>
            </a:extLst>
          </p:cNvPr>
          <p:cNvSpPr/>
          <p:nvPr/>
        </p:nvSpPr>
        <p:spPr>
          <a:xfrm>
            <a:off x="4836513" y="2585258"/>
            <a:ext cx="6543985" cy="313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1600" b="1" i="1" err="1">
                <a:solidFill>
                  <a:schemeClr val="accent1">
                    <a:lumMod val="50000"/>
                  </a:schemeClr>
                </a:solidFill>
              </a:rPr>
              <a:t>ChemProp</a:t>
            </a:r>
            <a:r>
              <a:rPr lang="en-US" sz="1600" b="1" i="1">
                <a:solidFill>
                  <a:schemeClr val="accent1">
                    <a:lumMod val="50000"/>
                  </a:schemeClr>
                </a:solidFill>
              </a:rPr>
              <a:t> Warm Start &amp; Frozen Encoder</a:t>
            </a:r>
          </a:p>
          <a:p>
            <a:pPr>
              <a:spcAft>
                <a:spcPts val="300"/>
              </a:spcAft>
            </a:pPr>
            <a:r>
              <a:rPr lang="en-US" sz="1600" i="1" baseline="30000">
                <a:solidFill>
                  <a:schemeClr val="accent1"/>
                </a:solidFill>
              </a:rPr>
              <a:t>D-MPNN encoder is either frozen and only FFNs is update or both are updated</a:t>
            </a:r>
          </a:p>
        </p:txBody>
      </p:sp>
      <p:sp>
        <p:nvSpPr>
          <p:cNvPr id="11" name="Rectangle 383">
            <a:extLst>
              <a:ext uri="{FF2B5EF4-FFF2-40B4-BE49-F238E27FC236}">
                <a16:creationId xmlns:a16="http://schemas.microsoft.com/office/drawing/2014/main" id="{6157884F-51E3-E093-662D-DD3412AB274F}"/>
              </a:ext>
            </a:extLst>
          </p:cNvPr>
          <p:cNvSpPr/>
          <p:nvPr/>
        </p:nvSpPr>
        <p:spPr>
          <a:xfrm>
            <a:off x="6414466" y="4715909"/>
            <a:ext cx="1711520" cy="233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accent1">
                    <a:lumMod val="50000"/>
                  </a:schemeClr>
                </a:solidFill>
              </a:rPr>
              <a:t>D-MPNN</a:t>
            </a:r>
          </a:p>
          <a:p>
            <a:pPr algn="ctr"/>
            <a:r>
              <a:rPr lang="en-US" sz="1100" i="1" baseline="30000">
                <a:solidFill>
                  <a:schemeClr val="accent1"/>
                </a:solidFill>
              </a:rPr>
              <a:t>Encoder pretrained on linear peptides</a:t>
            </a:r>
          </a:p>
        </p:txBody>
      </p:sp>
      <p:grpSp>
        <p:nvGrpSpPr>
          <p:cNvPr id="12" name="Group 478">
            <a:extLst>
              <a:ext uri="{FF2B5EF4-FFF2-40B4-BE49-F238E27FC236}">
                <a16:creationId xmlns:a16="http://schemas.microsoft.com/office/drawing/2014/main" id="{12D0E474-9725-0777-C8D3-E2AB62BED45F}"/>
              </a:ext>
            </a:extLst>
          </p:cNvPr>
          <p:cNvGrpSpPr/>
          <p:nvPr/>
        </p:nvGrpSpPr>
        <p:grpSpPr>
          <a:xfrm>
            <a:off x="8344945" y="3149218"/>
            <a:ext cx="380755" cy="1152456"/>
            <a:chOff x="8329403" y="1541401"/>
            <a:chExt cx="380755" cy="1152456"/>
          </a:xfrm>
        </p:grpSpPr>
        <p:sp>
          <p:nvSpPr>
            <p:cNvPr id="70" name="Round Same Side Corner Rectangle 17">
              <a:extLst>
                <a:ext uri="{FF2B5EF4-FFF2-40B4-BE49-F238E27FC236}">
                  <a16:creationId xmlns:a16="http://schemas.microsoft.com/office/drawing/2014/main" id="{FDAA2537-EE7A-A5E6-D1EF-08B2CF896AD2}"/>
                </a:ext>
              </a:extLst>
            </p:cNvPr>
            <p:cNvSpPr/>
            <p:nvPr/>
          </p:nvSpPr>
          <p:spPr>
            <a:xfrm>
              <a:off x="8329403" y="1541401"/>
              <a:ext cx="380755" cy="1152456"/>
            </a:xfrm>
            <a:prstGeom prst="roundRect">
              <a:avLst>
                <a:gd name="adj" fmla="val 15483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2" name="Oval 388">
              <a:extLst>
                <a:ext uri="{FF2B5EF4-FFF2-40B4-BE49-F238E27FC236}">
                  <a16:creationId xmlns:a16="http://schemas.microsoft.com/office/drawing/2014/main" id="{3902003B-5207-548E-AE8A-49A05808BE5F}"/>
                </a:ext>
              </a:extLst>
            </p:cNvPr>
            <p:cNvSpPr>
              <a:spLocks/>
            </p:cNvSpPr>
            <p:nvPr/>
          </p:nvSpPr>
          <p:spPr>
            <a:xfrm>
              <a:off x="8395456" y="1624097"/>
              <a:ext cx="252000" cy="252000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</a:gra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4342DA"/>
                </a:solidFill>
              </a:endParaRPr>
            </a:p>
          </p:txBody>
        </p:sp>
      </p:grpSp>
      <p:sp>
        <p:nvSpPr>
          <p:cNvPr id="22" name="Rectangle 417">
            <a:extLst>
              <a:ext uri="{FF2B5EF4-FFF2-40B4-BE49-F238E27FC236}">
                <a16:creationId xmlns:a16="http://schemas.microsoft.com/office/drawing/2014/main" id="{487B1B2D-C207-6646-CFEA-A8A0AB4A64DC}"/>
              </a:ext>
            </a:extLst>
          </p:cNvPr>
          <p:cNvSpPr/>
          <p:nvPr/>
        </p:nvSpPr>
        <p:spPr>
          <a:xfrm>
            <a:off x="7945325" y="4386713"/>
            <a:ext cx="1178121" cy="244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b="1">
                <a:solidFill>
                  <a:schemeClr val="accent1">
                    <a:lumMod val="50000"/>
                  </a:schemeClr>
                </a:solidFill>
              </a:rPr>
              <a:t>Aggregated Embedding</a:t>
            </a:r>
            <a:endParaRPr lang="en-US" sz="900" b="1" baseline="3000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3" name="Graphic 422" descr="Arrow Right with solid fill">
            <a:extLst>
              <a:ext uri="{FF2B5EF4-FFF2-40B4-BE49-F238E27FC236}">
                <a16:creationId xmlns:a16="http://schemas.microsoft.com/office/drawing/2014/main" id="{2704277D-4EE6-436B-6718-D880F68138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9637" y="3142583"/>
            <a:ext cx="393395" cy="393395"/>
          </a:xfrm>
          <a:prstGeom prst="rect">
            <a:avLst/>
          </a:prstGeom>
        </p:spPr>
      </p:pic>
      <p:pic>
        <p:nvPicPr>
          <p:cNvPr id="24" name="Graphic 423" descr="Arrow Right with solid fill">
            <a:extLst>
              <a:ext uri="{FF2B5EF4-FFF2-40B4-BE49-F238E27FC236}">
                <a16:creationId xmlns:a16="http://schemas.microsoft.com/office/drawing/2014/main" id="{5473E667-282A-A471-5DB2-0B3F877F81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552481">
            <a:off x="8850791" y="3235550"/>
            <a:ext cx="393395" cy="393395"/>
          </a:xfrm>
          <a:prstGeom prst="rect">
            <a:avLst/>
          </a:prstGeom>
        </p:spPr>
      </p:pic>
      <p:pic>
        <p:nvPicPr>
          <p:cNvPr id="25" name="Graphic 424" descr="Arrow Right with solid fill">
            <a:extLst>
              <a:ext uri="{FF2B5EF4-FFF2-40B4-BE49-F238E27FC236}">
                <a16:creationId xmlns:a16="http://schemas.microsoft.com/office/drawing/2014/main" id="{8DBBAC3A-E937-BF07-8D52-7BD6442433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9731" y="3555946"/>
            <a:ext cx="393395" cy="393395"/>
          </a:xfrm>
          <a:prstGeom prst="rect">
            <a:avLst/>
          </a:prstGeom>
        </p:spPr>
      </p:pic>
      <p:pic>
        <p:nvPicPr>
          <p:cNvPr id="26" name="Graphic 425" descr="Arrow Right with solid fill">
            <a:extLst>
              <a:ext uri="{FF2B5EF4-FFF2-40B4-BE49-F238E27FC236}">
                <a16:creationId xmlns:a16="http://schemas.microsoft.com/office/drawing/2014/main" id="{627E17B6-7FAA-9239-0AD4-167DF1E99B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9006">
            <a:off x="8852622" y="3886677"/>
            <a:ext cx="393395" cy="393395"/>
          </a:xfrm>
          <a:prstGeom prst="rect">
            <a:avLst/>
          </a:prstGeom>
        </p:spPr>
      </p:pic>
      <p:sp>
        <p:nvSpPr>
          <p:cNvPr id="30" name="Rectangle 441">
            <a:extLst>
              <a:ext uri="{FF2B5EF4-FFF2-40B4-BE49-F238E27FC236}">
                <a16:creationId xmlns:a16="http://schemas.microsoft.com/office/drawing/2014/main" id="{F4AE2C1A-1AB1-3DE0-BFF8-C2B5723B9036}"/>
              </a:ext>
            </a:extLst>
          </p:cNvPr>
          <p:cNvSpPr/>
          <p:nvPr/>
        </p:nvSpPr>
        <p:spPr>
          <a:xfrm>
            <a:off x="4759795" y="3704907"/>
            <a:ext cx="1253096" cy="210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accent1">
                    <a:lumMod val="50000"/>
                  </a:schemeClr>
                </a:solidFill>
              </a:rPr>
              <a:t>Molecular Graph</a:t>
            </a:r>
            <a:endParaRPr lang="en-US" sz="1100" i="1" baseline="30000">
              <a:solidFill>
                <a:schemeClr val="accent1"/>
              </a:solidFill>
            </a:endParaRPr>
          </a:p>
        </p:txBody>
      </p:sp>
      <p:pic>
        <p:nvPicPr>
          <p:cNvPr id="31" name="Graphic 442" descr="Arrow Right with solid fill">
            <a:extLst>
              <a:ext uri="{FF2B5EF4-FFF2-40B4-BE49-F238E27FC236}">
                <a16:creationId xmlns:a16="http://schemas.microsoft.com/office/drawing/2014/main" id="{A034BC80-36AF-7C63-9EC0-46DFB454A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6724" y="3596719"/>
            <a:ext cx="393395" cy="393395"/>
          </a:xfrm>
          <a:prstGeom prst="rect">
            <a:avLst/>
          </a:prstGeom>
        </p:spPr>
      </p:pic>
      <p:grpSp>
        <p:nvGrpSpPr>
          <p:cNvPr id="32" name="Group 26">
            <a:extLst>
              <a:ext uri="{FF2B5EF4-FFF2-40B4-BE49-F238E27FC236}">
                <a16:creationId xmlns:a16="http://schemas.microsoft.com/office/drawing/2014/main" id="{F0C86A59-C239-C15A-3469-A7042C2E1611}"/>
              </a:ext>
            </a:extLst>
          </p:cNvPr>
          <p:cNvGrpSpPr/>
          <p:nvPr/>
        </p:nvGrpSpPr>
        <p:grpSpPr>
          <a:xfrm>
            <a:off x="6840606" y="3939271"/>
            <a:ext cx="822964" cy="640080"/>
            <a:chOff x="5220237" y="1448212"/>
            <a:chExt cx="1279985" cy="1152456"/>
          </a:xfrm>
        </p:grpSpPr>
        <p:sp>
          <p:nvSpPr>
            <p:cNvPr id="55" name="Round Same Side Corner Rectangle 17">
              <a:extLst>
                <a:ext uri="{FF2B5EF4-FFF2-40B4-BE49-F238E27FC236}">
                  <a16:creationId xmlns:a16="http://schemas.microsoft.com/office/drawing/2014/main" id="{ED27FF97-BBCA-95C8-B055-7CAC28AFCF9F}"/>
                </a:ext>
              </a:extLst>
            </p:cNvPr>
            <p:cNvSpPr/>
            <p:nvPr/>
          </p:nvSpPr>
          <p:spPr>
            <a:xfrm>
              <a:off x="5220237" y="1448212"/>
              <a:ext cx="380754" cy="1152456"/>
            </a:xfrm>
            <a:prstGeom prst="roundRect">
              <a:avLst>
                <a:gd name="adj" fmla="val 15483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6" name="Round Same Side Corner Rectangle 17">
              <a:extLst>
                <a:ext uri="{FF2B5EF4-FFF2-40B4-BE49-F238E27FC236}">
                  <a16:creationId xmlns:a16="http://schemas.microsoft.com/office/drawing/2014/main" id="{04C3E85C-067C-4854-5B3F-A62AE97A99F4}"/>
                </a:ext>
              </a:extLst>
            </p:cNvPr>
            <p:cNvSpPr/>
            <p:nvPr/>
          </p:nvSpPr>
          <p:spPr>
            <a:xfrm>
              <a:off x="5667046" y="1448212"/>
              <a:ext cx="380755" cy="1152456"/>
            </a:xfrm>
            <a:prstGeom prst="roundRect">
              <a:avLst>
                <a:gd name="adj" fmla="val 15483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7" name="Round Same Side Corner Rectangle 17">
              <a:extLst>
                <a:ext uri="{FF2B5EF4-FFF2-40B4-BE49-F238E27FC236}">
                  <a16:creationId xmlns:a16="http://schemas.microsoft.com/office/drawing/2014/main" id="{A4D6BBAA-42EB-0307-4836-B9A049192FDA}"/>
                </a:ext>
              </a:extLst>
            </p:cNvPr>
            <p:cNvSpPr/>
            <p:nvPr/>
          </p:nvSpPr>
          <p:spPr>
            <a:xfrm>
              <a:off x="6119467" y="1448212"/>
              <a:ext cx="380755" cy="1152456"/>
            </a:xfrm>
            <a:prstGeom prst="roundRect">
              <a:avLst>
                <a:gd name="adj" fmla="val 15483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58" name="Group 30">
              <a:extLst>
                <a:ext uri="{FF2B5EF4-FFF2-40B4-BE49-F238E27FC236}">
                  <a16:creationId xmlns:a16="http://schemas.microsoft.com/office/drawing/2014/main" id="{B7533911-7B52-5478-B3AF-2E4106F75632}"/>
                </a:ext>
              </a:extLst>
            </p:cNvPr>
            <p:cNvGrpSpPr/>
            <p:nvPr/>
          </p:nvGrpSpPr>
          <p:grpSpPr>
            <a:xfrm>
              <a:off x="5286376" y="1576449"/>
              <a:ext cx="243863" cy="917135"/>
              <a:chOff x="5286376" y="1576449"/>
              <a:chExt cx="243863" cy="917135"/>
            </a:xfrm>
            <a:gradFill>
              <a:gsLst>
                <a:gs pos="0">
                  <a:srgbClr val="C00000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</a:gradFill>
          </p:grpSpPr>
          <p:sp>
            <p:nvSpPr>
              <p:cNvPr id="67" name="Oval 39">
                <a:extLst>
                  <a:ext uri="{FF2B5EF4-FFF2-40B4-BE49-F238E27FC236}">
                    <a16:creationId xmlns:a16="http://schemas.microsoft.com/office/drawing/2014/main" id="{1286E406-57E7-EE38-FD3C-118C62E9E7CF}"/>
                  </a:ext>
                </a:extLst>
              </p:cNvPr>
              <p:cNvSpPr/>
              <p:nvPr/>
            </p:nvSpPr>
            <p:spPr>
              <a:xfrm>
                <a:off x="5286376" y="1576449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8" name="Oval 40">
                <a:extLst>
                  <a:ext uri="{FF2B5EF4-FFF2-40B4-BE49-F238E27FC236}">
                    <a16:creationId xmlns:a16="http://schemas.microsoft.com/office/drawing/2014/main" id="{78BFC20F-9DFB-3008-2B1B-A989F50AE73A}"/>
                  </a:ext>
                </a:extLst>
              </p:cNvPr>
              <p:cNvSpPr/>
              <p:nvPr/>
            </p:nvSpPr>
            <p:spPr>
              <a:xfrm>
                <a:off x="5286376" y="1904718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9" name="Oval 41">
                <a:extLst>
                  <a:ext uri="{FF2B5EF4-FFF2-40B4-BE49-F238E27FC236}">
                    <a16:creationId xmlns:a16="http://schemas.microsoft.com/office/drawing/2014/main" id="{56DA6E1A-C935-899A-71C8-BA2D8E0A9F52}"/>
                  </a:ext>
                </a:extLst>
              </p:cNvPr>
              <p:cNvSpPr/>
              <p:nvPr/>
            </p:nvSpPr>
            <p:spPr>
              <a:xfrm>
                <a:off x="5286376" y="2234245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59" name="Group 31">
              <a:extLst>
                <a:ext uri="{FF2B5EF4-FFF2-40B4-BE49-F238E27FC236}">
                  <a16:creationId xmlns:a16="http://schemas.microsoft.com/office/drawing/2014/main" id="{65C47708-9569-7990-ECAC-AD2E252BCDDF}"/>
                </a:ext>
              </a:extLst>
            </p:cNvPr>
            <p:cNvGrpSpPr/>
            <p:nvPr/>
          </p:nvGrpSpPr>
          <p:grpSpPr>
            <a:xfrm>
              <a:off x="5733141" y="1576449"/>
              <a:ext cx="243863" cy="917135"/>
              <a:chOff x="5805921" y="1576449"/>
              <a:chExt cx="243863" cy="917135"/>
            </a:xfrm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</a:gradFill>
          </p:grpSpPr>
          <p:sp>
            <p:nvSpPr>
              <p:cNvPr id="64" name="Oval 36">
                <a:extLst>
                  <a:ext uri="{FF2B5EF4-FFF2-40B4-BE49-F238E27FC236}">
                    <a16:creationId xmlns:a16="http://schemas.microsoft.com/office/drawing/2014/main" id="{3904ACA0-E288-A66F-627B-4FD7F213D57F}"/>
                  </a:ext>
                </a:extLst>
              </p:cNvPr>
              <p:cNvSpPr/>
              <p:nvPr/>
            </p:nvSpPr>
            <p:spPr>
              <a:xfrm>
                <a:off x="5805921" y="1576449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5" name="Oval 37">
                <a:extLst>
                  <a:ext uri="{FF2B5EF4-FFF2-40B4-BE49-F238E27FC236}">
                    <a16:creationId xmlns:a16="http://schemas.microsoft.com/office/drawing/2014/main" id="{486B4F9A-9C8C-BBCC-B425-DC4386F504AA}"/>
                  </a:ext>
                </a:extLst>
              </p:cNvPr>
              <p:cNvSpPr/>
              <p:nvPr/>
            </p:nvSpPr>
            <p:spPr>
              <a:xfrm>
                <a:off x="5805921" y="1904718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6" name="Oval 38">
                <a:extLst>
                  <a:ext uri="{FF2B5EF4-FFF2-40B4-BE49-F238E27FC236}">
                    <a16:creationId xmlns:a16="http://schemas.microsoft.com/office/drawing/2014/main" id="{64E99795-34B9-291F-138F-E34EBC45467C}"/>
                  </a:ext>
                </a:extLst>
              </p:cNvPr>
              <p:cNvSpPr/>
              <p:nvPr/>
            </p:nvSpPr>
            <p:spPr>
              <a:xfrm>
                <a:off x="5805921" y="2234245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60" name="Group 32">
              <a:extLst>
                <a:ext uri="{FF2B5EF4-FFF2-40B4-BE49-F238E27FC236}">
                  <a16:creationId xmlns:a16="http://schemas.microsoft.com/office/drawing/2014/main" id="{D6C0D442-DE9A-AE3B-C411-89DFCF76B3C2}"/>
                </a:ext>
              </a:extLst>
            </p:cNvPr>
            <p:cNvGrpSpPr/>
            <p:nvPr/>
          </p:nvGrpSpPr>
          <p:grpSpPr>
            <a:xfrm>
              <a:off x="6185520" y="1576449"/>
              <a:ext cx="243863" cy="917135"/>
              <a:chOff x="6325467" y="1576449"/>
              <a:chExt cx="243863" cy="917135"/>
            </a:xfrm>
            <a:gradFill>
              <a:gsLst>
                <a:gs pos="0">
                  <a:schemeClr val="accent6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</a:gradFill>
          </p:grpSpPr>
          <p:sp>
            <p:nvSpPr>
              <p:cNvPr id="61" name="Oval 33">
                <a:extLst>
                  <a:ext uri="{FF2B5EF4-FFF2-40B4-BE49-F238E27FC236}">
                    <a16:creationId xmlns:a16="http://schemas.microsoft.com/office/drawing/2014/main" id="{38E766FA-6DB5-33E0-2AC6-D91401889A8A}"/>
                  </a:ext>
                </a:extLst>
              </p:cNvPr>
              <p:cNvSpPr/>
              <p:nvPr/>
            </p:nvSpPr>
            <p:spPr>
              <a:xfrm>
                <a:off x="6325467" y="1576449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2" name="Oval 34">
                <a:extLst>
                  <a:ext uri="{FF2B5EF4-FFF2-40B4-BE49-F238E27FC236}">
                    <a16:creationId xmlns:a16="http://schemas.microsoft.com/office/drawing/2014/main" id="{24030719-A846-5F02-6CA1-06765E5D8AC0}"/>
                  </a:ext>
                </a:extLst>
              </p:cNvPr>
              <p:cNvSpPr/>
              <p:nvPr/>
            </p:nvSpPr>
            <p:spPr>
              <a:xfrm>
                <a:off x="6325467" y="1904718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3" name="Oval 35">
                <a:extLst>
                  <a:ext uri="{FF2B5EF4-FFF2-40B4-BE49-F238E27FC236}">
                    <a16:creationId xmlns:a16="http://schemas.microsoft.com/office/drawing/2014/main" id="{BC4675BD-3939-855D-71D3-DFFE8A90217D}"/>
                  </a:ext>
                </a:extLst>
              </p:cNvPr>
              <p:cNvSpPr/>
              <p:nvPr/>
            </p:nvSpPr>
            <p:spPr>
              <a:xfrm>
                <a:off x="6325467" y="2234245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</p:grpSp>
      <p:pic>
        <p:nvPicPr>
          <p:cNvPr id="33" name="Graphic 42" descr="Arrow Right with solid fill">
            <a:extLst>
              <a:ext uri="{FF2B5EF4-FFF2-40B4-BE49-F238E27FC236}">
                <a16:creationId xmlns:a16="http://schemas.microsoft.com/office/drawing/2014/main" id="{0167D3BC-9F00-8CA3-59EF-76C980BFEC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9637" y="3814949"/>
            <a:ext cx="393395" cy="393395"/>
          </a:xfrm>
          <a:prstGeom prst="rect">
            <a:avLst/>
          </a:prstGeom>
        </p:spPr>
      </p:pic>
      <p:sp>
        <p:nvSpPr>
          <p:cNvPr id="34" name="Rectangle 43">
            <a:extLst>
              <a:ext uri="{FF2B5EF4-FFF2-40B4-BE49-F238E27FC236}">
                <a16:creationId xmlns:a16="http://schemas.microsoft.com/office/drawing/2014/main" id="{704BFAC5-96C9-E106-A75F-429916FB7352}"/>
              </a:ext>
            </a:extLst>
          </p:cNvPr>
          <p:cNvSpPr/>
          <p:nvPr/>
        </p:nvSpPr>
        <p:spPr>
          <a:xfrm>
            <a:off x="5787918" y="3248146"/>
            <a:ext cx="1253096" cy="210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>
                <a:solidFill>
                  <a:schemeClr val="accent1"/>
                </a:solidFill>
              </a:rPr>
              <a:t>1) Frozen</a:t>
            </a:r>
            <a:endParaRPr lang="en-US" sz="900" baseline="30000">
              <a:solidFill>
                <a:schemeClr val="accent1"/>
              </a:solidFill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C1EAAE96-AFA7-5B8B-1D57-8F817DA515A2}"/>
              </a:ext>
            </a:extLst>
          </p:cNvPr>
          <p:cNvSpPr/>
          <p:nvPr/>
        </p:nvSpPr>
        <p:spPr>
          <a:xfrm>
            <a:off x="5708242" y="4157574"/>
            <a:ext cx="1253096" cy="210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>
                <a:solidFill>
                  <a:schemeClr val="accent1"/>
                </a:solidFill>
              </a:rPr>
              <a:t>2) Trainable</a:t>
            </a:r>
            <a:endParaRPr lang="en-US" sz="900" baseline="30000">
              <a:solidFill>
                <a:schemeClr val="accent1"/>
              </a:solidFill>
            </a:endParaRPr>
          </a:p>
        </p:txBody>
      </p:sp>
      <p:sp>
        <p:nvSpPr>
          <p:cNvPr id="36" name="Rectangle 54">
            <a:extLst>
              <a:ext uri="{FF2B5EF4-FFF2-40B4-BE49-F238E27FC236}">
                <a16:creationId xmlns:a16="http://schemas.microsoft.com/office/drawing/2014/main" id="{162FF8E6-1EC0-B5D7-453E-E75B8D266605}"/>
              </a:ext>
            </a:extLst>
          </p:cNvPr>
          <p:cNvSpPr/>
          <p:nvPr/>
        </p:nvSpPr>
        <p:spPr>
          <a:xfrm>
            <a:off x="6637232" y="3689151"/>
            <a:ext cx="1253096" cy="210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accent1">
                    <a:lumMod val="50000"/>
                  </a:schemeClr>
                </a:solidFill>
              </a:rPr>
              <a:t>or</a:t>
            </a:r>
            <a:endParaRPr lang="en-US" sz="1100" i="1" baseline="30000">
              <a:solidFill>
                <a:schemeClr val="accent1"/>
              </a:solidFill>
            </a:endParaRPr>
          </a:p>
        </p:txBody>
      </p:sp>
      <p:grpSp>
        <p:nvGrpSpPr>
          <p:cNvPr id="37" name="Group 55">
            <a:extLst>
              <a:ext uri="{FF2B5EF4-FFF2-40B4-BE49-F238E27FC236}">
                <a16:creationId xmlns:a16="http://schemas.microsoft.com/office/drawing/2014/main" id="{3A7EB143-52BF-AEF5-9E76-2456957FB37E}"/>
              </a:ext>
            </a:extLst>
          </p:cNvPr>
          <p:cNvGrpSpPr/>
          <p:nvPr/>
        </p:nvGrpSpPr>
        <p:grpSpPr>
          <a:xfrm>
            <a:off x="6840601" y="3032173"/>
            <a:ext cx="822962" cy="640080"/>
            <a:chOff x="5220238" y="1448212"/>
            <a:chExt cx="1279984" cy="1152456"/>
          </a:xfrm>
        </p:grpSpPr>
        <p:sp>
          <p:nvSpPr>
            <p:cNvPr id="40" name="Round Same Side Corner Rectangle 17">
              <a:extLst>
                <a:ext uri="{FF2B5EF4-FFF2-40B4-BE49-F238E27FC236}">
                  <a16:creationId xmlns:a16="http://schemas.microsoft.com/office/drawing/2014/main" id="{DF55E97A-FF2E-1D94-8284-478522E5BF61}"/>
                </a:ext>
              </a:extLst>
            </p:cNvPr>
            <p:cNvSpPr/>
            <p:nvPr/>
          </p:nvSpPr>
          <p:spPr>
            <a:xfrm>
              <a:off x="5220238" y="1448212"/>
              <a:ext cx="380755" cy="1152456"/>
            </a:xfrm>
            <a:prstGeom prst="roundRect">
              <a:avLst>
                <a:gd name="adj" fmla="val 15483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Round Same Side Corner Rectangle 17">
              <a:extLst>
                <a:ext uri="{FF2B5EF4-FFF2-40B4-BE49-F238E27FC236}">
                  <a16:creationId xmlns:a16="http://schemas.microsoft.com/office/drawing/2014/main" id="{A611D83E-2485-CD04-740D-B2A1F3B0ECA8}"/>
                </a:ext>
              </a:extLst>
            </p:cNvPr>
            <p:cNvSpPr/>
            <p:nvPr/>
          </p:nvSpPr>
          <p:spPr>
            <a:xfrm>
              <a:off x="5667046" y="1448212"/>
              <a:ext cx="380755" cy="1152456"/>
            </a:xfrm>
            <a:prstGeom prst="roundRect">
              <a:avLst>
                <a:gd name="adj" fmla="val 15483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Round Same Side Corner Rectangle 17">
              <a:extLst>
                <a:ext uri="{FF2B5EF4-FFF2-40B4-BE49-F238E27FC236}">
                  <a16:creationId xmlns:a16="http://schemas.microsoft.com/office/drawing/2014/main" id="{DB03547A-E59F-81DA-3350-DE3A7ABB330B}"/>
                </a:ext>
              </a:extLst>
            </p:cNvPr>
            <p:cNvSpPr/>
            <p:nvPr/>
          </p:nvSpPr>
          <p:spPr>
            <a:xfrm>
              <a:off x="6119467" y="1448212"/>
              <a:ext cx="380755" cy="1152456"/>
            </a:xfrm>
            <a:prstGeom prst="roundRect">
              <a:avLst>
                <a:gd name="adj" fmla="val 15483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3" name="Group 59">
              <a:extLst>
                <a:ext uri="{FF2B5EF4-FFF2-40B4-BE49-F238E27FC236}">
                  <a16:creationId xmlns:a16="http://schemas.microsoft.com/office/drawing/2014/main" id="{02EB3BBD-B94F-5B3D-5A46-7AB63E3DCF88}"/>
                </a:ext>
              </a:extLst>
            </p:cNvPr>
            <p:cNvGrpSpPr/>
            <p:nvPr/>
          </p:nvGrpSpPr>
          <p:grpSpPr>
            <a:xfrm>
              <a:off x="5286376" y="1576449"/>
              <a:ext cx="243863" cy="917135"/>
              <a:chOff x="5286376" y="1576449"/>
              <a:chExt cx="243863" cy="917135"/>
            </a:xfrm>
            <a:gradFill>
              <a:gsLst>
                <a:gs pos="0">
                  <a:srgbClr val="C00000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</a:gradFill>
          </p:grpSpPr>
          <p:sp>
            <p:nvSpPr>
              <p:cNvPr id="52" name="Oval 475">
                <a:extLst>
                  <a:ext uri="{FF2B5EF4-FFF2-40B4-BE49-F238E27FC236}">
                    <a16:creationId xmlns:a16="http://schemas.microsoft.com/office/drawing/2014/main" id="{A30D0288-661A-7CA5-3F20-FD0E50E84B02}"/>
                  </a:ext>
                </a:extLst>
              </p:cNvPr>
              <p:cNvSpPr/>
              <p:nvPr/>
            </p:nvSpPr>
            <p:spPr>
              <a:xfrm>
                <a:off x="5286376" y="1576449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53" name="Oval 476">
                <a:extLst>
                  <a:ext uri="{FF2B5EF4-FFF2-40B4-BE49-F238E27FC236}">
                    <a16:creationId xmlns:a16="http://schemas.microsoft.com/office/drawing/2014/main" id="{49320254-A099-AF5B-445A-B28F635C7F0C}"/>
                  </a:ext>
                </a:extLst>
              </p:cNvPr>
              <p:cNvSpPr/>
              <p:nvPr/>
            </p:nvSpPr>
            <p:spPr>
              <a:xfrm>
                <a:off x="5286376" y="1904718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54" name="Oval 477">
                <a:extLst>
                  <a:ext uri="{FF2B5EF4-FFF2-40B4-BE49-F238E27FC236}">
                    <a16:creationId xmlns:a16="http://schemas.microsoft.com/office/drawing/2014/main" id="{3A8EB18C-F9D9-3617-74CB-523A8E1E98EE}"/>
                  </a:ext>
                </a:extLst>
              </p:cNvPr>
              <p:cNvSpPr/>
              <p:nvPr/>
            </p:nvSpPr>
            <p:spPr>
              <a:xfrm>
                <a:off x="5286376" y="2234245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44" name="Group 60">
              <a:extLst>
                <a:ext uri="{FF2B5EF4-FFF2-40B4-BE49-F238E27FC236}">
                  <a16:creationId xmlns:a16="http://schemas.microsoft.com/office/drawing/2014/main" id="{78B5F08A-60A1-6852-4E19-86D0CA7AB3F8}"/>
                </a:ext>
              </a:extLst>
            </p:cNvPr>
            <p:cNvGrpSpPr/>
            <p:nvPr/>
          </p:nvGrpSpPr>
          <p:grpSpPr>
            <a:xfrm>
              <a:off x="5733141" y="1576449"/>
              <a:ext cx="243863" cy="917135"/>
              <a:chOff x="5805921" y="1576449"/>
              <a:chExt cx="243863" cy="917135"/>
            </a:xfrm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</a:gradFill>
          </p:grpSpPr>
          <p:sp>
            <p:nvSpPr>
              <p:cNvPr id="49" name="Oval 472">
                <a:extLst>
                  <a:ext uri="{FF2B5EF4-FFF2-40B4-BE49-F238E27FC236}">
                    <a16:creationId xmlns:a16="http://schemas.microsoft.com/office/drawing/2014/main" id="{571C10D1-8531-F57B-4C56-15E8A14BEE4A}"/>
                  </a:ext>
                </a:extLst>
              </p:cNvPr>
              <p:cNvSpPr/>
              <p:nvPr/>
            </p:nvSpPr>
            <p:spPr>
              <a:xfrm>
                <a:off x="5805921" y="1576449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50" name="Oval 473">
                <a:extLst>
                  <a:ext uri="{FF2B5EF4-FFF2-40B4-BE49-F238E27FC236}">
                    <a16:creationId xmlns:a16="http://schemas.microsoft.com/office/drawing/2014/main" id="{6CFA8A61-8D70-FACB-CA26-E8A111F06FCA}"/>
                  </a:ext>
                </a:extLst>
              </p:cNvPr>
              <p:cNvSpPr/>
              <p:nvPr/>
            </p:nvSpPr>
            <p:spPr>
              <a:xfrm>
                <a:off x="5805921" y="1904718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51" name="Oval 474">
                <a:extLst>
                  <a:ext uri="{FF2B5EF4-FFF2-40B4-BE49-F238E27FC236}">
                    <a16:creationId xmlns:a16="http://schemas.microsoft.com/office/drawing/2014/main" id="{3C415A3D-263A-59C2-B850-272B63578AC1}"/>
                  </a:ext>
                </a:extLst>
              </p:cNvPr>
              <p:cNvSpPr/>
              <p:nvPr/>
            </p:nvSpPr>
            <p:spPr>
              <a:xfrm>
                <a:off x="5805921" y="2234245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  <p:grpSp>
          <p:nvGrpSpPr>
            <p:cNvPr id="45" name="Group 61">
              <a:extLst>
                <a:ext uri="{FF2B5EF4-FFF2-40B4-BE49-F238E27FC236}">
                  <a16:creationId xmlns:a16="http://schemas.microsoft.com/office/drawing/2014/main" id="{719AB19B-3BA4-69A9-2BB6-941F583CE3E5}"/>
                </a:ext>
              </a:extLst>
            </p:cNvPr>
            <p:cNvGrpSpPr/>
            <p:nvPr/>
          </p:nvGrpSpPr>
          <p:grpSpPr>
            <a:xfrm>
              <a:off x="6185520" y="1576449"/>
              <a:ext cx="243863" cy="917135"/>
              <a:chOff x="6325467" y="1576449"/>
              <a:chExt cx="243863" cy="917135"/>
            </a:xfrm>
            <a:gradFill>
              <a:gsLst>
                <a:gs pos="0">
                  <a:schemeClr val="accent6"/>
                </a:gs>
                <a:gs pos="100000">
                  <a:schemeClr val="bg1"/>
                </a:gs>
              </a:gsLst>
              <a:path path="circle">
                <a:fillToRect l="100000" t="100000"/>
              </a:path>
            </a:gradFill>
          </p:grpSpPr>
          <p:sp>
            <p:nvSpPr>
              <p:cNvPr id="46" name="Oval 62">
                <a:extLst>
                  <a:ext uri="{FF2B5EF4-FFF2-40B4-BE49-F238E27FC236}">
                    <a16:creationId xmlns:a16="http://schemas.microsoft.com/office/drawing/2014/main" id="{94D09989-5600-BDDB-B3C1-F053F8EE8CFE}"/>
                  </a:ext>
                </a:extLst>
              </p:cNvPr>
              <p:cNvSpPr/>
              <p:nvPr/>
            </p:nvSpPr>
            <p:spPr>
              <a:xfrm>
                <a:off x="6325467" y="1576449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47" name="Oval 447">
                <a:extLst>
                  <a:ext uri="{FF2B5EF4-FFF2-40B4-BE49-F238E27FC236}">
                    <a16:creationId xmlns:a16="http://schemas.microsoft.com/office/drawing/2014/main" id="{65937724-B346-C2CF-F443-9D3D1543EF61}"/>
                  </a:ext>
                </a:extLst>
              </p:cNvPr>
              <p:cNvSpPr/>
              <p:nvPr/>
            </p:nvSpPr>
            <p:spPr>
              <a:xfrm>
                <a:off x="6325467" y="1904718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48" name="Oval 449">
                <a:extLst>
                  <a:ext uri="{FF2B5EF4-FFF2-40B4-BE49-F238E27FC236}">
                    <a16:creationId xmlns:a16="http://schemas.microsoft.com/office/drawing/2014/main" id="{A89883C6-B8E5-BAD2-8EB3-B455ADC22864}"/>
                  </a:ext>
                </a:extLst>
              </p:cNvPr>
              <p:cNvSpPr/>
              <p:nvPr/>
            </p:nvSpPr>
            <p:spPr>
              <a:xfrm>
                <a:off x="6325467" y="2234245"/>
                <a:ext cx="243863" cy="259339"/>
              </a:xfrm>
              <a:prstGeom prst="ellipse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</p:grpSp>
      </p:grpSp>
      <p:pic>
        <p:nvPicPr>
          <p:cNvPr id="38" name="Graphic 52" descr="Lock with solid fill">
            <a:extLst>
              <a:ext uri="{FF2B5EF4-FFF2-40B4-BE49-F238E27FC236}">
                <a16:creationId xmlns:a16="http://schemas.microsoft.com/office/drawing/2014/main" id="{5EAB8DB2-84EC-C2BA-CEDD-21E706E779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8518" y="3062929"/>
            <a:ext cx="547111" cy="547111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sp>
        <p:nvSpPr>
          <p:cNvPr id="74" name="Round Same Side Corner Rectangle 17">
            <a:extLst>
              <a:ext uri="{FF2B5EF4-FFF2-40B4-BE49-F238E27FC236}">
                <a16:creationId xmlns:a16="http://schemas.microsoft.com/office/drawing/2014/main" id="{E43386B2-85DE-FC2D-5CC6-DFD5429C19DE}"/>
              </a:ext>
            </a:extLst>
          </p:cNvPr>
          <p:cNvSpPr/>
          <p:nvPr/>
        </p:nvSpPr>
        <p:spPr>
          <a:xfrm>
            <a:off x="3561844" y="2842395"/>
            <a:ext cx="735644" cy="502920"/>
          </a:xfrm>
          <a:prstGeom prst="roundRect">
            <a:avLst>
              <a:gd name="adj" fmla="val 26190"/>
            </a:avLst>
          </a:prstGeom>
          <a:solidFill>
            <a:schemeClr val="bg2">
              <a:lumMod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>
                <a:solidFill>
                  <a:schemeClr val="bg1"/>
                </a:solidFill>
              </a:rPr>
              <a:t>Gravy Index</a:t>
            </a:r>
            <a:endParaRPr lang="en-US" sz="1050" b="1" baseline="30000">
              <a:solidFill>
                <a:schemeClr val="bg1"/>
              </a:solidFill>
            </a:endParaRPr>
          </a:p>
        </p:txBody>
      </p:sp>
      <p:sp>
        <p:nvSpPr>
          <p:cNvPr id="75" name="Round Same Side Corner Rectangle 17">
            <a:extLst>
              <a:ext uri="{FF2B5EF4-FFF2-40B4-BE49-F238E27FC236}">
                <a16:creationId xmlns:a16="http://schemas.microsoft.com/office/drawing/2014/main" id="{1174FA87-78C0-E9D6-D072-23A0F9723921}"/>
              </a:ext>
            </a:extLst>
          </p:cNvPr>
          <p:cNvSpPr/>
          <p:nvPr/>
        </p:nvSpPr>
        <p:spPr>
          <a:xfrm>
            <a:off x="3561844" y="3457973"/>
            <a:ext cx="735644" cy="502920"/>
          </a:xfrm>
          <a:prstGeom prst="roundRect">
            <a:avLst>
              <a:gd name="adj" fmla="val 26190"/>
            </a:avLst>
          </a:prstGeom>
          <a:solidFill>
            <a:schemeClr val="bg2">
              <a:lumMod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>
                <a:solidFill>
                  <a:schemeClr val="bg1"/>
                </a:solidFill>
              </a:rPr>
              <a:t>Net charge pH=7.4</a:t>
            </a:r>
            <a:endParaRPr lang="en-US" sz="1050" b="1" baseline="30000">
              <a:solidFill>
                <a:schemeClr val="bg1"/>
              </a:solidFill>
            </a:endParaRPr>
          </a:p>
        </p:txBody>
      </p:sp>
      <p:sp>
        <p:nvSpPr>
          <p:cNvPr id="76" name="Round Same Side Corner Rectangle 17">
            <a:extLst>
              <a:ext uri="{FF2B5EF4-FFF2-40B4-BE49-F238E27FC236}">
                <a16:creationId xmlns:a16="http://schemas.microsoft.com/office/drawing/2014/main" id="{0B9CDF6A-2C5C-5591-EF22-D1B64FB6418F}"/>
              </a:ext>
            </a:extLst>
          </p:cNvPr>
          <p:cNvSpPr/>
          <p:nvPr/>
        </p:nvSpPr>
        <p:spPr>
          <a:xfrm>
            <a:off x="3561844" y="4073551"/>
            <a:ext cx="735644" cy="502920"/>
          </a:xfrm>
          <a:prstGeom prst="roundRect">
            <a:avLst>
              <a:gd name="adj" fmla="val 26190"/>
            </a:avLst>
          </a:prstGeom>
          <a:solidFill>
            <a:schemeClr val="bg2">
              <a:lumMod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>
                <a:solidFill>
                  <a:schemeClr val="bg1"/>
                </a:solidFill>
              </a:rPr>
              <a:t>Instability index</a:t>
            </a:r>
            <a:endParaRPr lang="en-US" sz="1050" b="1" baseline="30000">
              <a:solidFill>
                <a:schemeClr val="bg1"/>
              </a:solidFill>
            </a:endParaRPr>
          </a:p>
        </p:txBody>
      </p:sp>
      <p:sp>
        <p:nvSpPr>
          <p:cNvPr id="77" name="Round Same Side Corner Rectangle 17">
            <a:extLst>
              <a:ext uri="{FF2B5EF4-FFF2-40B4-BE49-F238E27FC236}">
                <a16:creationId xmlns:a16="http://schemas.microsoft.com/office/drawing/2014/main" id="{59A56F50-8D5C-7F01-C8FB-B55465791DA7}"/>
              </a:ext>
            </a:extLst>
          </p:cNvPr>
          <p:cNvSpPr/>
          <p:nvPr/>
        </p:nvSpPr>
        <p:spPr>
          <a:xfrm>
            <a:off x="3561844" y="4689130"/>
            <a:ext cx="735644" cy="502920"/>
          </a:xfrm>
          <a:prstGeom prst="roundRect">
            <a:avLst>
              <a:gd name="adj" fmla="val 26190"/>
            </a:avLst>
          </a:prstGeom>
          <a:solidFill>
            <a:schemeClr val="bg2">
              <a:lumMod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>
                <a:solidFill>
                  <a:schemeClr val="bg1"/>
                </a:solidFill>
              </a:rPr>
              <a:t>Difficulty coupling</a:t>
            </a:r>
            <a:endParaRPr lang="en-US" sz="1050" b="1" baseline="30000">
              <a:solidFill>
                <a:schemeClr val="bg1"/>
              </a:solidFill>
            </a:endParaRPr>
          </a:p>
        </p:txBody>
      </p:sp>
      <p:sp>
        <p:nvSpPr>
          <p:cNvPr id="80" name="Oval 35">
            <a:extLst>
              <a:ext uri="{FF2B5EF4-FFF2-40B4-BE49-F238E27FC236}">
                <a16:creationId xmlns:a16="http://schemas.microsoft.com/office/drawing/2014/main" id="{67E35DB7-9EF0-7530-DA71-AAD95BE74038}"/>
              </a:ext>
            </a:extLst>
          </p:cNvPr>
          <p:cNvSpPr/>
          <p:nvPr/>
        </p:nvSpPr>
        <p:spPr>
          <a:xfrm>
            <a:off x="8406741" y="3949341"/>
            <a:ext cx="252000" cy="252000"/>
          </a:xfrm>
          <a:prstGeom prst="ellipse">
            <a:avLst/>
          </a:prstGeom>
          <a:gradFill>
            <a:gsLst>
              <a:gs pos="0">
                <a:schemeClr val="accent6"/>
              </a:gs>
              <a:gs pos="100000">
                <a:schemeClr val="bg1"/>
              </a:gs>
            </a:gsLst>
            <a:path path="circle">
              <a:fillToRect l="100000" t="100000"/>
            </a:path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1" name="Oval 38">
            <a:extLst>
              <a:ext uri="{FF2B5EF4-FFF2-40B4-BE49-F238E27FC236}">
                <a16:creationId xmlns:a16="http://schemas.microsoft.com/office/drawing/2014/main" id="{B69376CF-1CCB-35F0-918E-0895EB62AEEE}"/>
              </a:ext>
            </a:extLst>
          </p:cNvPr>
          <p:cNvSpPr/>
          <p:nvPr/>
        </p:nvSpPr>
        <p:spPr>
          <a:xfrm>
            <a:off x="8406741" y="3583095"/>
            <a:ext cx="252000" cy="252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bg1"/>
              </a:gs>
            </a:gsLst>
            <a:path path="circle">
              <a:fillToRect l="100000" t="100000"/>
            </a:path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8" name="Graphic 442" descr="Arrow Right with solid fill">
            <a:extLst>
              <a:ext uri="{FF2B5EF4-FFF2-40B4-BE49-F238E27FC236}">
                <a16:creationId xmlns:a16="http://schemas.microsoft.com/office/drawing/2014/main" id="{E0A75DFB-A479-BBC6-8F91-EA45E71C9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8412" y="3589943"/>
            <a:ext cx="393395" cy="393395"/>
          </a:xfrm>
          <a:prstGeom prst="rect">
            <a:avLst/>
          </a:prstGeom>
        </p:spPr>
      </p:pic>
      <p:pic>
        <p:nvPicPr>
          <p:cNvPr id="91" name="Immagine 90">
            <a:extLst>
              <a:ext uri="{FF2B5EF4-FFF2-40B4-BE49-F238E27FC236}">
                <a16:creationId xmlns:a16="http://schemas.microsoft.com/office/drawing/2014/main" id="{FF4E2E07-E044-A901-52D5-A72C6A0105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738" y="3033136"/>
            <a:ext cx="1895144" cy="1353674"/>
          </a:xfrm>
          <a:prstGeom prst="rect">
            <a:avLst/>
          </a:prstGeom>
        </p:spPr>
      </p:pic>
      <p:sp>
        <p:nvSpPr>
          <p:cNvPr id="92" name="Oval 388">
            <a:extLst>
              <a:ext uri="{FF2B5EF4-FFF2-40B4-BE49-F238E27FC236}">
                <a16:creationId xmlns:a16="http://schemas.microsoft.com/office/drawing/2014/main" id="{9B4237A2-FB6E-C3E6-F71B-C10CE0B25D72}"/>
              </a:ext>
            </a:extLst>
          </p:cNvPr>
          <p:cNvSpPr>
            <a:spLocks/>
          </p:cNvSpPr>
          <p:nvPr/>
        </p:nvSpPr>
        <p:spPr>
          <a:xfrm>
            <a:off x="11103427" y="3405603"/>
            <a:ext cx="126000" cy="126000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bg1"/>
              </a:gs>
            </a:gsLst>
            <a:path path="circle">
              <a:fillToRect l="100000" t="10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342DA"/>
              </a:solidFill>
            </a:endParaRPr>
          </a:p>
        </p:txBody>
      </p:sp>
      <p:sp>
        <p:nvSpPr>
          <p:cNvPr id="93" name="Oval 38">
            <a:extLst>
              <a:ext uri="{FF2B5EF4-FFF2-40B4-BE49-F238E27FC236}">
                <a16:creationId xmlns:a16="http://schemas.microsoft.com/office/drawing/2014/main" id="{C11A58CD-4870-468B-7916-DDCC91708CF0}"/>
              </a:ext>
            </a:extLst>
          </p:cNvPr>
          <p:cNvSpPr/>
          <p:nvPr/>
        </p:nvSpPr>
        <p:spPr>
          <a:xfrm>
            <a:off x="11103686" y="3643535"/>
            <a:ext cx="126000" cy="126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bg1"/>
              </a:gs>
            </a:gsLst>
            <a:path path="circle">
              <a:fillToRect l="100000" t="10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4" name="Oval 35">
            <a:extLst>
              <a:ext uri="{FF2B5EF4-FFF2-40B4-BE49-F238E27FC236}">
                <a16:creationId xmlns:a16="http://schemas.microsoft.com/office/drawing/2014/main" id="{A9226F3F-BB21-8832-24FC-AED2BD30BC51}"/>
              </a:ext>
            </a:extLst>
          </p:cNvPr>
          <p:cNvSpPr/>
          <p:nvPr/>
        </p:nvSpPr>
        <p:spPr>
          <a:xfrm>
            <a:off x="11111422" y="3890728"/>
            <a:ext cx="126000" cy="126000"/>
          </a:xfrm>
          <a:prstGeom prst="ellipse">
            <a:avLst/>
          </a:prstGeom>
          <a:gradFill>
            <a:gsLst>
              <a:gs pos="0">
                <a:schemeClr val="accent6"/>
              </a:gs>
              <a:gs pos="100000">
                <a:schemeClr val="bg1"/>
              </a:gs>
            </a:gsLst>
            <a:path path="circle">
              <a:fillToRect l="100000" t="10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96" name="Gruppo 95">
            <a:extLst>
              <a:ext uri="{FF2B5EF4-FFF2-40B4-BE49-F238E27FC236}">
                <a16:creationId xmlns:a16="http://schemas.microsoft.com/office/drawing/2014/main" id="{269DFE23-2E38-6939-56DA-3AC976073C5A}"/>
              </a:ext>
            </a:extLst>
          </p:cNvPr>
          <p:cNvGrpSpPr/>
          <p:nvPr/>
        </p:nvGrpSpPr>
        <p:grpSpPr>
          <a:xfrm>
            <a:off x="7429753" y="748604"/>
            <a:ext cx="2689116" cy="1558602"/>
            <a:chOff x="6802910" y="2712142"/>
            <a:chExt cx="1729831" cy="1658765"/>
          </a:xfrm>
        </p:grpSpPr>
        <p:sp>
          <p:nvSpPr>
            <p:cNvPr id="97" name="Rettangolo con angoli arrotondati 96">
              <a:extLst>
                <a:ext uri="{FF2B5EF4-FFF2-40B4-BE49-F238E27FC236}">
                  <a16:creationId xmlns:a16="http://schemas.microsoft.com/office/drawing/2014/main" id="{42C6368E-3E89-6C46-1BBA-6B8FBF8AABF0}"/>
                </a:ext>
              </a:extLst>
            </p:cNvPr>
            <p:cNvSpPr/>
            <p:nvPr/>
          </p:nvSpPr>
          <p:spPr>
            <a:xfrm>
              <a:off x="6802910" y="2712142"/>
              <a:ext cx="1729831" cy="1658765"/>
            </a:xfrm>
            <a:prstGeom prst="roundRect">
              <a:avLst/>
            </a:prstGeom>
            <a:solidFill>
              <a:srgbClr val="008D00">
                <a:alpha val="12096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98" name="CasellaDiTesto 97">
              <a:extLst>
                <a:ext uri="{FF2B5EF4-FFF2-40B4-BE49-F238E27FC236}">
                  <a16:creationId xmlns:a16="http://schemas.microsoft.com/office/drawing/2014/main" id="{BCDF6D34-404F-CA01-F98D-4C8D038384D0}"/>
                </a:ext>
              </a:extLst>
            </p:cNvPr>
            <p:cNvSpPr txBox="1"/>
            <p:nvPr/>
          </p:nvSpPr>
          <p:spPr>
            <a:xfrm>
              <a:off x="6934878" y="2883062"/>
              <a:ext cx="1474056" cy="123192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it-GB" sz="1100" b="1" i="1">
                  <a:solidFill>
                    <a:schemeClr val="tx1"/>
                  </a:solidFill>
                </a:rPr>
                <a:t>Finetuning data</a:t>
              </a:r>
            </a:p>
            <a:p>
              <a:pPr algn="l">
                <a:lnSpc>
                  <a:spcPct val="105000"/>
                </a:lnSpc>
              </a:pPr>
              <a:r>
                <a:rPr lang="it-GB" sz="1100" b="1" i="1">
                  <a:solidFill>
                    <a:schemeClr val="tx1"/>
                  </a:solidFill>
                </a:rPr>
                <a:t>Curated peptide dataset</a:t>
              </a:r>
            </a:p>
            <a:p>
              <a:pPr algn="l">
                <a:lnSpc>
                  <a:spcPct val="105000"/>
                </a:lnSpc>
              </a:pPr>
              <a:endParaRPr lang="it-GB" sz="1100"/>
            </a:p>
            <a:p>
              <a:pPr algn="l">
                <a:lnSpc>
                  <a:spcPct val="105000"/>
                </a:lnSpc>
              </a:pPr>
              <a:r>
                <a:rPr lang="it-IT" sz="1000">
                  <a:solidFill>
                    <a:schemeClr val="tx1"/>
                  </a:solidFill>
                </a:rPr>
                <a:t>C</a:t>
              </a:r>
              <a:r>
                <a:rPr lang="it-GB" sz="1000">
                  <a:solidFill>
                    <a:schemeClr val="tx1"/>
                  </a:solidFill>
                </a:rPr>
                <a:t>anonical &amp; non-canonical sequences</a:t>
              </a:r>
            </a:p>
            <a:p>
              <a:pPr algn="l">
                <a:lnSpc>
                  <a:spcPct val="105000"/>
                </a:lnSpc>
              </a:pPr>
              <a:endParaRPr lang="it-GB" sz="100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it-GB" sz="1000" b="1">
                  <a:solidFill>
                    <a:schemeClr val="accent6"/>
                  </a:solidFill>
                </a:rPr>
                <a:t>Synthetisability/</a:t>
              </a:r>
              <a:r>
                <a:rPr lang="it-IT" sz="1000" b="1" err="1">
                  <a:solidFill>
                    <a:schemeClr val="accent6"/>
                  </a:solidFill>
                </a:rPr>
                <a:t>P</a:t>
              </a:r>
              <a:r>
                <a:rPr lang="it-GB" sz="1000" b="1">
                  <a:solidFill>
                    <a:schemeClr val="accent6"/>
                  </a:solidFill>
                </a:rPr>
                <a:t>urity</a:t>
              </a:r>
              <a:r>
                <a:rPr lang="it-GB" sz="1000"/>
                <a:t> (1,77 K)</a:t>
              </a:r>
            </a:p>
            <a:p>
              <a:pPr marL="171450" indent="-1714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it-IT" sz="1000" b="1">
                  <a:solidFill>
                    <a:srgbClr val="000080"/>
                  </a:solidFill>
                </a:rPr>
                <a:t>C</a:t>
              </a:r>
              <a:r>
                <a:rPr lang="it-GB" sz="1000" b="1">
                  <a:solidFill>
                    <a:srgbClr val="000080"/>
                  </a:solidFill>
                </a:rPr>
                <a:t>amsol_solubility </a:t>
              </a:r>
              <a:r>
                <a:rPr lang="it-GB" sz="1000"/>
                <a:t>(10 K)</a:t>
              </a:r>
            </a:p>
            <a:p>
              <a:pPr marL="171450" indent="-1714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it-IT" sz="1000" b="1">
                  <a:solidFill>
                    <a:srgbClr val="C00000"/>
                  </a:solidFill>
                </a:rPr>
                <a:t>H</a:t>
              </a:r>
              <a:r>
                <a:rPr lang="it-GB" sz="1000" b="1">
                  <a:solidFill>
                    <a:srgbClr val="C00000"/>
                  </a:solidFill>
                </a:rPr>
                <a:t>emolysis </a:t>
              </a:r>
              <a:r>
                <a:rPr lang="it-GB" sz="1000"/>
                <a:t>(2 K)</a:t>
              </a:r>
            </a:p>
            <a:p>
              <a:pPr algn="l">
                <a:lnSpc>
                  <a:spcPct val="105000"/>
                </a:lnSpc>
              </a:pPr>
              <a:endParaRPr lang="it-GB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9262B5D7-3FBC-0F98-DB1D-E5B897DC155A}"/>
              </a:ext>
            </a:extLst>
          </p:cNvPr>
          <p:cNvGrpSpPr/>
          <p:nvPr/>
        </p:nvGrpSpPr>
        <p:grpSpPr>
          <a:xfrm>
            <a:off x="4886046" y="737305"/>
            <a:ext cx="2255888" cy="1558602"/>
            <a:chOff x="6802910" y="2712142"/>
            <a:chExt cx="1729831" cy="1658765"/>
          </a:xfrm>
        </p:grpSpPr>
        <p:sp>
          <p:nvSpPr>
            <p:cNvPr id="100" name="Rettangolo con angoli arrotondati 99">
              <a:extLst>
                <a:ext uri="{FF2B5EF4-FFF2-40B4-BE49-F238E27FC236}">
                  <a16:creationId xmlns:a16="http://schemas.microsoft.com/office/drawing/2014/main" id="{7C78DF1B-0D6E-1834-B622-201AC78ED1A8}"/>
                </a:ext>
              </a:extLst>
            </p:cNvPr>
            <p:cNvSpPr/>
            <p:nvPr/>
          </p:nvSpPr>
          <p:spPr>
            <a:xfrm>
              <a:off x="6802910" y="2712142"/>
              <a:ext cx="1729831" cy="1658765"/>
            </a:xfrm>
            <a:prstGeom prst="roundRect">
              <a:avLst/>
            </a:prstGeom>
            <a:solidFill>
              <a:srgbClr val="DBDD9A">
                <a:alpha val="32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101" name="CasellaDiTesto 100">
              <a:extLst>
                <a:ext uri="{FF2B5EF4-FFF2-40B4-BE49-F238E27FC236}">
                  <a16:creationId xmlns:a16="http://schemas.microsoft.com/office/drawing/2014/main" id="{B1600A5F-E35D-5C7B-9A6F-766F127F2E0A}"/>
                </a:ext>
              </a:extLst>
            </p:cNvPr>
            <p:cNvSpPr txBox="1"/>
            <p:nvPr/>
          </p:nvSpPr>
          <p:spPr>
            <a:xfrm>
              <a:off x="6969625" y="2913475"/>
              <a:ext cx="1474056" cy="123192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it-GB" sz="1100" b="1" i="1">
                  <a:solidFill>
                    <a:schemeClr val="tx1"/>
                  </a:solidFill>
                </a:rPr>
                <a:t>Pretraining data</a:t>
              </a:r>
            </a:p>
            <a:p>
              <a:pPr algn="l">
                <a:lnSpc>
                  <a:spcPct val="105000"/>
                </a:lnSpc>
              </a:pPr>
              <a:endParaRPr lang="it-GB" sz="1100"/>
            </a:p>
            <a:p>
              <a:pPr algn="l">
                <a:lnSpc>
                  <a:spcPct val="105000"/>
                </a:lnSpc>
              </a:pPr>
              <a:r>
                <a:rPr lang="it-GB" sz="1000">
                  <a:solidFill>
                    <a:schemeClr val="tx1"/>
                  </a:solidFill>
                </a:rPr>
                <a:t>1 M canonical sequences </a:t>
              </a:r>
            </a:p>
            <a:p>
              <a:pPr algn="l">
                <a:lnSpc>
                  <a:spcPct val="105000"/>
                </a:lnSpc>
              </a:pPr>
              <a:r>
                <a:rPr lang="it-GB" sz="1000">
                  <a:solidFill>
                    <a:schemeClr val="tx1"/>
                  </a:solidFill>
                </a:rPr>
                <a:t>random generated (p2smi)</a:t>
              </a:r>
            </a:p>
            <a:p>
              <a:pPr algn="l">
                <a:lnSpc>
                  <a:spcPct val="105000"/>
                </a:lnSpc>
              </a:pPr>
              <a:endParaRPr lang="it-GB" sz="1000"/>
            </a:p>
            <a:p>
              <a:pPr algn="l">
                <a:lnSpc>
                  <a:spcPct val="105000"/>
                </a:lnSpc>
              </a:pPr>
              <a:r>
                <a:rPr lang="it-GB" sz="1000">
                  <a:solidFill>
                    <a:schemeClr val="tx1"/>
                  </a:solidFill>
                </a:rPr>
                <a:t>4,3 M canonical sequences </a:t>
              </a:r>
            </a:p>
            <a:p>
              <a:pPr algn="l">
                <a:lnSpc>
                  <a:spcPct val="105000"/>
                </a:lnSpc>
              </a:pPr>
              <a:r>
                <a:rPr lang="it-GB" sz="1000">
                  <a:solidFill>
                    <a:schemeClr val="tx1"/>
                  </a:solidFill>
                </a:rPr>
                <a:t>from Peptipedia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040511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285B0-AA44-0EAC-78EC-E70F45C2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0FB6-B029-8292-4B13-4945E500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 anchor="t">
            <a:normAutofit/>
          </a:bodyPr>
          <a:lstStyle/>
          <a:p>
            <a:r>
              <a:rPr lang="en-GB"/>
              <a:t>Pretraining</a:t>
            </a:r>
          </a:p>
        </p:txBody>
      </p:sp>
      <p:pic>
        <p:nvPicPr>
          <p:cNvPr id="3" name="New picture">
            <a:extLst>
              <a:ext uri="{FF2B5EF4-FFF2-40B4-BE49-F238E27FC236}">
                <a16:creationId xmlns:a16="http://schemas.microsoft.com/office/drawing/2014/main" id="{9785455F-1B1E-BECD-DCF4-ADD71A515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00" y="1094922"/>
            <a:ext cx="6036900" cy="5206825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12870-5ED1-6C09-7982-486B5548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349" y="6393702"/>
            <a:ext cx="1233647" cy="13727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E3AC62B7-F8E8-4065-A21D-90A8A970CBC5}" type="datetime1">
              <a:rPr lang="en-GB" smtClean="0"/>
              <a:pPr>
                <a:spcAft>
                  <a:spcPts val="600"/>
                </a:spcAft>
              </a:pPr>
              <a:t>11/09/2026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46FA-9FB0-B5AF-8F5C-E6040A30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755" y="6393702"/>
            <a:ext cx="318491" cy="137272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CBA53E11-492D-48B3-9F9B-09541CA2A39A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8621C4F-3038-C9F7-70CB-8AF20C6F2195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err="1"/>
              <a:t>Chemeleon</a:t>
            </a:r>
            <a:endParaRPr lang="en-GB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320E61FB-4C76-7D7A-58B3-8B1A6A353ED9}"/>
              </a:ext>
            </a:extLst>
          </p:cNvPr>
          <p:cNvSpPr/>
          <p:nvPr/>
        </p:nvSpPr>
        <p:spPr>
          <a:xfrm>
            <a:off x="6731000" y="1094922"/>
            <a:ext cx="4635500" cy="5206825"/>
          </a:xfrm>
          <a:prstGeom prst="roundRect">
            <a:avLst>
              <a:gd name="adj" fmla="val 4267"/>
            </a:avLst>
          </a:prstGeom>
          <a:noFill/>
          <a:ln w="19050">
            <a:solidFill>
              <a:srgbClr val="008D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GB" sz="1600">
              <a:solidFill>
                <a:srgbClr val="008D00"/>
              </a:solidFill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8EAD71E-753D-4F14-CC85-FD18D3915663}"/>
              </a:ext>
            </a:extLst>
          </p:cNvPr>
          <p:cNvSpPr txBox="1"/>
          <p:nvPr/>
        </p:nvSpPr>
        <p:spPr>
          <a:xfrm>
            <a:off x="6880001" y="1231798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it-GB" sz="1600" b="1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D594FF0A-C15F-163B-9DE8-D8D7989B708B}"/>
              </a:ext>
            </a:extLst>
          </p:cNvPr>
          <p:cNvGrpSpPr>
            <a:grpSpLocks noChangeAspect="1"/>
          </p:cNvGrpSpPr>
          <p:nvPr/>
        </p:nvGrpSpPr>
        <p:grpSpPr>
          <a:xfrm>
            <a:off x="9880344" y="1318900"/>
            <a:ext cx="138554" cy="1011445"/>
            <a:chOff x="9606116" y="1664356"/>
            <a:chExt cx="180000" cy="1314000"/>
          </a:xfrm>
        </p:grpSpPr>
        <p:sp>
          <p:nvSpPr>
            <p:cNvPr id="19" name="Rettangolo con angoli arrotondati 18">
              <a:extLst>
                <a:ext uri="{FF2B5EF4-FFF2-40B4-BE49-F238E27FC236}">
                  <a16:creationId xmlns:a16="http://schemas.microsoft.com/office/drawing/2014/main" id="{89BDE180-0CBC-2CFB-FF7C-725331FBBED1}"/>
                </a:ext>
              </a:extLst>
            </p:cNvPr>
            <p:cNvSpPr/>
            <p:nvPr/>
          </p:nvSpPr>
          <p:spPr>
            <a:xfrm>
              <a:off x="9606116" y="1664356"/>
              <a:ext cx="180000" cy="1314000"/>
            </a:xfrm>
            <a:prstGeom prst="roundRect">
              <a:avLst>
                <a:gd name="adj" fmla="val 27478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23" name="Ovale 22">
              <a:extLst>
                <a:ext uri="{FF2B5EF4-FFF2-40B4-BE49-F238E27FC236}">
                  <a16:creationId xmlns:a16="http://schemas.microsoft.com/office/drawing/2014/main" id="{F81DB64A-4FAF-F530-FDA5-74EBFCA80164}"/>
                </a:ext>
              </a:extLst>
            </p:cNvPr>
            <p:cNvSpPr/>
            <p:nvPr/>
          </p:nvSpPr>
          <p:spPr>
            <a:xfrm>
              <a:off x="9643543" y="1704466"/>
              <a:ext cx="108000" cy="108000"/>
            </a:xfrm>
            <a:prstGeom prst="ellipse">
              <a:avLst/>
            </a:prstGeom>
            <a:solidFill>
              <a:srgbClr val="DB92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rgbClr val="DB92C0"/>
                </a:solidFill>
              </a:endParaRPr>
            </a:p>
          </p:txBody>
        </p:sp>
        <p:sp>
          <p:nvSpPr>
            <p:cNvPr id="26" name="Ovale 25">
              <a:extLst>
                <a:ext uri="{FF2B5EF4-FFF2-40B4-BE49-F238E27FC236}">
                  <a16:creationId xmlns:a16="http://schemas.microsoft.com/office/drawing/2014/main" id="{37A6325F-7F6F-4A42-3CF3-CBE8DFD53927}"/>
                </a:ext>
              </a:extLst>
            </p:cNvPr>
            <p:cNvSpPr/>
            <p:nvPr/>
          </p:nvSpPr>
          <p:spPr>
            <a:xfrm>
              <a:off x="9643543" y="1868805"/>
              <a:ext cx="108000" cy="108000"/>
            </a:xfrm>
            <a:prstGeom prst="ellipse">
              <a:avLst/>
            </a:prstGeom>
            <a:solidFill>
              <a:srgbClr val="963E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27" name="Ovale 26">
              <a:extLst>
                <a:ext uri="{FF2B5EF4-FFF2-40B4-BE49-F238E27FC236}">
                  <a16:creationId xmlns:a16="http://schemas.microsoft.com/office/drawing/2014/main" id="{7F06B11B-5914-42B3-50BA-18C65A958C2F}"/>
                </a:ext>
              </a:extLst>
            </p:cNvPr>
            <p:cNvSpPr/>
            <p:nvPr/>
          </p:nvSpPr>
          <p:spPr>
            <a:xfrm>
              <a:off x="9643543" y="2033144"/>
              <a:ext cx="108000" cy="108000"/>
            </a:xfrm>
            <a:prstGeom prst="ellipse">
              <a:avLst/>
            </a:prstGeom>
            <a:solidFill>
              <a:srgbClr val="5B35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28" name="Ovale 27">
              <a:extLst>
                <a:ext uri="{FF2B5EF4-FFF2-40B4-BE49-F238E27FC236}">
                  <a16:creationId xmlns:a16="http://schemas.microsoft.com/office/drawing/2014/main" id="{CB3FB54E-2E93-4D9D-6348-8B571066D2F7}"/>
                </a:ext>
              </a:extLst>
            </p:cNvPr>
            <p:cNvSpPr/>
            <p:nvPr/>
          </p:nvSpPr>
          <p:spPr>
            <a:xfrm>
              <a:off x="9643543" y="2197483"/>
              <a:ext cx="108000" cy="108000"/>
            </a:xfrm>
            <a:prstGeom prst="ellipse">
              <a:avLst/>
            </a:prstGeom>
            <a:solidFill>
              <a:srgbClr val="AEC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29" name="Ovale 28">
              <a:extLst>
                <a:ext uri="{FF2B5EF4-FFF2-40B4-BE49-F238E27FC236}">
                  <a16:creationId xmlns:a16="http://schemas.microsoft.com/office/drawing/2014/main" id="{624347AB-62EE-61AF-A754-AB30587FA37B}"/>
                </a:ext>
              </a:extLst>
            </p:cNvPr>
            <p:cNvSpPr/>
            <p:nvPr/>
          </p:nvSpPr>
          <p:spPr>
            <a:xfrm>
              <a:off x="9643543" y="2361822"/>
              <a:ext cx="108000" cy="108000"/>
            </a:xfrm>
            <a:prstGeom prst="ellipse">
              <a:avLst/>
            </a:prstGeom>
            <a:solidFill>
              <a:srgbClr val="7DAB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30" name="Ovale 29">
              <a:extLst>
                <a:ext uri="{FF2B5EF4-FFF2-40B4-BE49-F238E27FC236}">
                  <a16:creationId xmlns:a16="http://schemas.microsoft.com/office/drawing/2014/main" id="{BB4E806C-BF83-BD7B-5F2C-9910CD6D19BE}"/>
                </a:ext>
              </a:extLst>
            </p:cNvPr>
            <p:cNvSpPr/>
            <p:nvPr/>
          </p:nvSpPr>
          <p:spPr>
            <a:xfrm>
              <a:off x="9643543" y="2526161"/>
              <a:ext cx="108000" cy="108000"/>
            </a:xfrm>
            <a:prstGeom prst="ellipse">
              <a:avLst/>
            </a:prstGeom>
            <a:solidFill>
              <a:srgbClr val="3EA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31" name="Ovale 30">
              <a:extLst>
                <a:ext uri="{FF2B5EF4-FFF2-40B4-BE49-F238E27FC236}">
                  <a16:creationId xmlns:a16="http://schemas.microsoft.com/office/drawing/2014/main" id="{C30C1BBF-9E89-5492-A876-0A95D1EFBC55}"/>
                </a:ext>
              </a:extLst>
            </p:cNvPr>
            <p:cNvSpPr/>
            <p:nvPr/>
          </p:nvSpPr>
          <p:spPr>
            <a:xfrm>
              <a:off x="9643543" y="2690500"/>
              <a:ext cx="108000" cy="108000"/>
            </a:xfrm>
            <a:prstGeom prst="ellipse">
              <a:avLst/>
            </a:prstGeom>
            <a:solidFill>
              <a:srgbClr val="3F9E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32" name="Ovale 31">
              <a:extLst>
                <a:ext uri="{FF2B5EF4-FFF2-40B4-BE49-F238E27FC236}">
                  <a16:creationId xmlns:a16="http://schemas.microsoft.com/office/drawing/2014/main" id="{1B95FC57-0AD1-A3F9-AC07-0D01B0B2F141}"/>
                </a:ext>
              </a:extLst>
            </p:cNvPr>
            <p:cNvSpPr/>
            <p:nvPr/>
          </p:nvSpPr>
          <p:spPr>
            <a:xfrm>
              <a:off x="9643543" y="2854840"/>
              <a:ext cx="108000" cy="108000"/>
            </a:xfrm>
            <a:prstGeom prst="ellipse">
              <a:avLst/>
            </a:prstGeom>
            <a:solidFill>
              <a:srgbClr val="205C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6226836F-0FDA-38EE-DDEC-5FFA1EFA309D}"/>
              </a:ext>
            </a:extLst>
          </p:cNvPr>
          <p:cNvGrpSpPr>
            <a:grpSpLocks noChangeAspect="1"/>
          </p:cNvGrpSpPr>
          <p:nvPr/>
        </p:nvGrpSpPr>
        <p:grpSpPr>
          <a:xfrm>
            <a:off x="9880344" y="3581041"/>
            <a:ext cx="138554" cy="1011445"/>
            <a:chOff x="9606116" y="1664356"/>
            <a:chExt cx="180000" cy="1314000"/>
          </a:xfrm>
        </p:grpSpPr>
        <p:sp>
          <p:nvSpPr>
            <p:cNvPr id="35" name="Rettangolo con angoli arrotondati 34">
              <a:extLst>
                <a:ext uri="{FF2B5EF4-FFF2-40B4-BE49-F238E27FC236}">
                  <a16:creationId xmlns:a16="http://schemas.microsoft.com/office/drawing/2014/main" id="{10765EAE-B05F-5082-EA79-4CBE5A4B6BCC}"/>
                </a:ext>
              </a:extLst>
            </p:cNvPr>
            <p:cNvSpPr/>
            <p:nvPr/>
          </p:nvSpPr>
          <p:spPr>
            <a:xfrm>
              <a:off x="9606116" y="1664356"/>
              <a:ext cx="180000" cy="1314000"/>
            </a:xfrm>
            <a:prstGeom prst="roundRect">
              <a:avLst>
                <a:gd name="adj" fmla="val 27478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36" name="Ovale 35">
              <a:extLst>
                <a:ext uri="{FF2B5EF4-FFF2-40B4-BE49-F238E27FC236}">
                  <a16:creationId xmlns:a16="http://schemas.microsoft.com/office/drawing/2014/main" id="{3E9C4C6C-84F1-42C7-CC0F-15D10748018A}"/>
                </a:ext>
              </a:extLst>
            </p:cNvPr>
            <p:cNvSpPr/>
            <p:nvPr/>
          </p:nvSpPr>
          <p:spPr>
            <a:xfrm>
              <a:off x="9643543" y="1704466"/>
              <a:ext cx="108000" cy="108000"/>
            </a:xfrm>
            <a:prstGeom prst="ellipse">
              <a:avLst/>
            </a:prstGeom>
            <a:solidFill>
              <a:srgbClr val="DB92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rgbClr val="DB92C0"/>
                </a:solidFill>
              </a:endParaRPr>
            </a:p>
          </p:txBody>
        </p:sp>
        <p:sp>
          <p:nvSpPr>
            <p:cNvPr id="37" name="Ovale 36">
              <a:extLst>
                <a:ext uri="{FF2B5EF4-FFF2-40B4-BE49-F238E27FC236}">
                  <a16:creationId xmlns:a16="http://schemas.microsoft.com/office/drawing/2014/main" id="{00B6708E-070A-0333-C961-88187E389894}"/>
                </a:ext>
              </a:extLst>
            </p:cNvPr>
            <p:cNvSpPr/>
            <p:nvPr/>
          </p:nvSpPr>
          <p:spPr>
            <a:xfrm>
              <a:off x="9643543" y="1868805"/>
              <a:ext cx="108000" cy="108000"/>
            </a:xfrm>
            <a:prstGeom prst="ellipse">
              <a:avLst/>
            </a:prstGeom>
            <a:solidFill>
              <a:srgbClr val="963E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38" name="Ovale 37">
              <a:extLst>
                <a:ext uri="{FF2B5EF4-FFF2-40B4-BE49-F238E27FC236}">
                  <a16:creationId xmlns:a16="http://schemas.microsoft.com/office/drawing/2014/main" id="{D41B8A5E-125A-3EF1-9EFE-47950B704B1C}"/>
                </a:ext>
              </a:extLst>
            </p:cNvPr>
            <p:cNvSpPr/>
            <p:nvPr/>
          </p:nvSpPr>
          <p:spPr>
            <a:xfrm>
              <a:off x="9643543" y="2033144"/>
              <a:ext cx="108000" cy="108000"/>
            </a:xfrm>
            <a:prstGeom prst="ellipse">
              <a:avLst/>
            </a:prstGeom>
            <a:solidFill>
              <a:srgbClr val="5B35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39" name="Ovale 38">
              <a:extLst>
                <a:ext uri="{FF2B5EF4-FFF2-40B4-BE49-F238E27FC236}">
                  <a16:creationId xmlns:a16="http://schemas.microsoft.com/office/drawing/2014/main" id="{5298BE38-E1FC-8C83-DACE-426B635B9A2D}"/>
                </a:ext>
              </a:extLst>
            </p:cNvPr>
            <p:cNvSpPr/>
            <p:nvPr/>
          </p:nvSpPr>
          <p:spPr>
            <a:xfrm>
              <a:off x="9643543" y="2197483"/>
              <a:ext cx="108000" cy="108000"/>
            </a:xfrm>
            <a:prstGeom prst="ellipse">
              <a:avLst/>
            </a:prstGeom>
            <a:solidFill>
              <a:srgbClr val="AEC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40" name="Ovale 39">
              <a:extLst>
                <a:ext uri="{FF2B5EF4-FFF2-40B4-BE49-F238E27FC236}">
                  <a16:creationId xmlns:a16="http://schemas.microsoft.com/office/drawing/2014/main" id="{0F8F2F13-B1C3-61AF-FB0F-4E0ADC59F19C}"/>
                </a:ext>
              </a:extLst>
            </p:cNvPr>
            <p:cNvSpPr/>
            <p:nvPr/>
          </p:nvSpPr>
          <p:spPr>
            <a:xfrm>
              <a:off x="9643543" y="2361822"/>
              <a:ext cx="108000" cy="108000"/>
            </a:xfrm>
            <a:prstGeom prst="ellipse">
              <a:avLst/>
            </a:prstGeom>
            <a:solidFill>
              <a:srgbClr val="7DAB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41" name="Ovale 40">
              <a:extLst>
                <a:ext uri="{FF2B5EF4-FFF2-40B4-BE49-F238E27FC236}">
                  <a16:creationId xmlns:a16="http://schemas.microsoft.com/office/drawing/2014/main" id="{E62D701B-BEBF-20C1-44E2-2C859355739A}"/>
                </a:ext>
              </a:extLst>
            </p:cNvPr>
            <p:cNvSpPr/>
            <p:nvPr/>
          </p:nvSpPr>
          <p:spPr>
            <a:xfrm>
              <a:off x="9643543" y="2526161"/>
              <a:ext cx="108000" cy="108000"/>
            </a:xfrm>
            <a:prstGeom prst="ellipse">
              <a:avLst/>
            </a:prstGeom>
            <a:solidFill>
              <a:srgbClr val="3EA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42" name="Ovale 41">
              <a:extLst>
                <a:ext uri="{FF2B5EF4-FFF2-40B4-BE49-F238E27FC236}">
                  <a16:creationId xmlns:a16="http://schemas.microsoft.com/office/drawing/2014/main" id="{06255FF7-10A1-2D05-28A3-86658090FCCD}"/>
                </a:ext>
              </a:extLst>
            </p:cNvPr>
            <p:cNvSpPr/>
            <p:nvPr/>
          </p:nvSpPr>
          <p:spPr>
            <a:xfrm>
              <a:off x="9643543" y="2690500"/>
              <a:ext cx="108000" cy="108000"/>
            </a:xfrm>
            <a:prstGeom prst="ellipse">
              <a:avLst/>
            </a:prstGeom>
            <a:solidFill>
              <a:srgbClr val="3F9E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43" name="Ovale 42">
              <a:extLst>
                <a:ext uri="{FF2B5EF4-FFF2-40B4-BE49-F238E27FC236}">
                  <a16:creationId xmlns:a16="http://schemas.microsoft.com/office/drawing/2014/main" id="{E71AFF9F-A533-3503-5A0B-06F132F3FC0B}"/>
                </a:ext>
              </a:extLst>
            </p:cNvPr>
            <p:cNvSpPr/>
            <p:nvPr/>
          </p:nvSpPr>
          <p:spPr>
            <a:xfrm>
              <a:off x="9643543" y="2854840"/>
              <a:ext cx="108000" cy="108000"/>
            </a:xfrm>
            <a:prstGeom prst="ellipse">
              <a:avLst/>
            </a:prstGeom>
            <a:solidFill>
              <a:srgbClr val="205C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FB8F04BB-A620-ADFC-7604-FCDEA44F9447}"/>
              </a:ext>
            </a:extLst>
          </p:cNvPr>
          <p:cNvGrpSpPr>
            <a:grpSpLocks noChangeAspect="1"/>
          </p:cNvGrpSpPr>
          <p:nvPr/>
        </p:nvGrpSpPr>
        <p:grpSpPr>
          <a:xfrm>
            <a:off x="9880344" y="2435547"/>
            <a:ext cx="138554" cy="1011445"/>
            <a:chOff x="9606116" y="1664356"/>
            <a:chExt cx="180000" cy="1314000"/>
          </a:xfrm>
        </p:grpSpPr>
        <p:sp>
          <p:nvSpPr>
            <p:cNvPr id="45" name="Rettangolo con angoli arrotondati 44">
              <a:extLst>
                <a:ext uri="{FF2B5EF4-FFF2-40B4-BE49-F238E27FC236}">
                  <a16:creationId xmlns:a16="http://schemas.microsoft.com/office/drawing/2014/main" id="{CA37CB1C-957A-B4C6-4EA4-121BC9052137}"/>
                </a:ext>
              </a:extLst>
            </p:cNvPr>
            <p:cNvSpPr/>
            <p:nvPr/>
          </p:nvSpPr>
          <p:spPr>
            <a:xfrm>
              <a:off x="9606116" y="1664356"/>
              <a:ext cx="180000" cy="1314000"/>
            </a:xfrm>
            <a:prstGeom prst="roundRect">
              <a:avLst>
                <a:gd name="adj" fmla="val 27478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46" name="Ovale 45">
              <a:extLst>
                <a:ext uri="{FF2B5EF4-FFF2-40B4-BE49-F238E27FC236}">
                  <a16:creationId xmlns:a16="http://schemas.microsoft.com/office/drawing/2014/main" id="{07B8D993-104D-E549-4F3C-C1C429B0688F}"/>
                </a:ext>
              </a:extLst>
            </p:cNvPr>
            <p:cNvSpPr/>
            <p:nvPr/>
          </p:nvSpPr>
          <p:spPr>
            <a:xfrm>
              <a:off x="9643543" y="1704466"/>
              <a:ext cx="108000" cy="108000"/>
            </a:xfrm>
            <a:prstGeom prst="ellipse">
              <a:avLst/>
            </a:prstGeom>
            <a:solidFill>
              <a:srgbClr val="DB92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rgbClr val="DB92C0"/>
                </a:solidFill>
              </a:endParaRPr>
            </a:p>
          </p:txBody>
        </p:sp>
        <p:sp>
          <p:nvSpPr>
            <p:cNvPr id="47" name="Ovale 46">
              <a:extLst>
                <a:ext uri="{FF2B5EF4-FFF2-40B4-BE49-F238E27FC236}">
                  <a16:creationId xmlns:a16="http://schemas.microsoft.com/office/drawing/2014/main" id="{8711F927-9EEC-02DA-3B90-FB75F772040D}"/>
                </a:ext>
              </a:extLst>
            </p:cNvPr>
            <p:cNvSpPr/>
            <p:nvPr/>
          </p:nvSpPr>
          <p:spPr>
            <a:xfrm>
              <a:off x="9643543" y="1868805"/>
              <a:ext cx="108000" cy="108000"/>
            </a:xfrm>
            <a:prstGeom prst="ellipse">
              <a:avLst/>
            </a:prstGeom>
            <a:solidFill>
              <a:srgbClr val="963E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48" name="Ovale 47">
              <a:extLst>
                <a:ext uri="{FF2B5EF4-FFF2-40B4-BE49-F238E27FC236}">
                  <a16:creationId xmlns:a16="http://schemas.microsoft.com/office/drawing/2014/main" id="{F121A3B5-A64D-147E-2ADC-D4CB57042880}"/>
                </a:ext>
              </a:extLst>
            </p:cNvPr>
            <p:cNvSpPr/>
            <p:nvPr/>
          </p:nvSpPr>
          <p:spPr>
            <a:xfrm>
              <a:off x="9643543" y="2033144"/>
              <a:ext cx="108000" cy="108000"/>
            </a:xfrm>
            <a:prstGeom prst="ellipse">
              <a:avLst/>
            </a:prstGeom>
            <a:solidFill>
              <a:srgbClr val="5B35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49" name="Ovale 48">
              <a:extLst>
                <a:ext uri="{FF2B5EF4-FFF2-40B4-BE49-F238E27FC236}">
                  <a16:creationId xmlns:a16="http://schemas.microsoft.com/office/drawing/2014/main" id="{CCFCE1D6-8DA2-FC7D-31F3-22439133FC53}"/>
                </a:ext>
              </a:extLst>
            </p:cNvPr>
            <p:cNvSpPr/>
            <p:nvPr/>
          </p:nvSpPr>
          <p:spPr>
            <a:xfrm>
              <a:off x="9643543" y="2197483"/>
              <a:ext cx="108000" cy="108000"/>
            </a:xfrm>
            <a:prstGeom prst="ellipse">
              <a:avLst/>
            </a:prstGeom>
            <a:solidFill>
              <a:srgbClr val="AEC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50" name="Ovale 49">
              <a:extLst>
                <a:ext uri="{FF2B5EF4-FFF2-40B4-BE49-F238E27FC236}">
                  <a16:creationId xmlns:a16="http://schemas.microsoft.com/office/drawing/2014/main" id="{24F55564-D013-5B8D-0128-8ED3E38A4997}"/>
                </a:ext>
              </a:extLst>
            </p:cNvPr>
            <p:cNvSpPr/>
            <p:nvPr/>
          </p:nvSpPr>
          <p:spPr>
            <a:xfrm>
              <a:off x="9643543" y="2361822"/>
              <a:ext cx="108000" cy="108000"/>
            </a:xfrm>
            <a:prstGeom prst="ellipse">
              <a:avLst/>
            </a:prstGeom>
            <a:solidFill>
              <a:srgbClr val="7DAB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51" name="Ovale 50">
              <a:extLst>
                <a:ext uri="{FF2B5EF4-FFF2-40B4-BE49-F238E27FC236}">
                  <a16:creationId xmlns:a16="http://schemas.microsoft.com/office/drawing/2014/main" id="{B03B4EE7-7103-B1C1-3646-A84D2E162C20}"/>
                </a:ext>
              </a:extLst>
            </p:cNvPr>
            <p:cNvSpPr/>
            <p:nvPr/>
          </p:nvSpPr>
          <p:spPr>
            <a:xfrm>
              <a:off x="9643543" y="2526161"/>
              <a:ext cx="108000" cy="108000"/>
            </a:xfrm>
            <a:prstGeom prst="ellipse">
              <a:avLst/>
            </a:prstGeom>
            <a:solidFill>
              <a:srgbClr val="3EA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52" name="Ovale 51">
              <a:extLst>
                <a:ext uri="{FF2B5EF4-FFF2-40B4-BE49-F238E27FC236}">
                  <a16:creationId xmlns:a16="http://schemas.microsoft.com/office/drawing/2014/main" id="{4FEC5CAB-80F8-2E26-BA52-C9811AE9E300}"/>
                </a:ext>
              </a:extLst>
            </p:cNvPr>
            <p:cNvSpPr/>
            <p:nvPr/>
          </p:nvSpPr>
          <p:spPr>
            <a:xfrm>
              <a:off x="9643543" y="2690500"/>
              <a:ext cx="108000" cy="108000"/>
            </a:xfrm>
            <a:prstGeom prst="ellipse">
              <a:avLst/>
            </a:prstGeom>
            <a:solidFill>
              <a:srgbClr val="3F9E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53" name="Ovale 52">
              <a:extLst>
                <a:ext uri="{FF2B5EF4-FFF2-40B4-BE49-F238E27FC236}">
                  <a16:creationId xmlns:a16="http://schemas.microsoft.com/office/drawing/2014/main" id="{3DD94785-C4AE-AD1E-1E14-3A05E7D733CF}"/>
                </a:ext>
              </a:extLst>
            </p:cNvPr>
            <p:cNvSpPr/>
            <p:nvPr/>
          </p:nvSpPr>
          <p:spPr>
            <a:xfrm>
              <a:off x="9643543" y="2854840"/>
              <a:ext cx="108000" cy="108000"/>
            </a:xfrm>
            <a:prstGeom prst="ellipse">
              <a:avLst/>
            </a:prstGeom>
            <a:solidFill>
              <a:srgbClr val="205C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4C361531-93FE-CD31-60BE-62A4B3BD3242}"/>
              </a:ext>
            </a:extLst>
          </p:cNvPr>
          <p:cNvGrpSpPr>
            <a:grpSpLocks noChangeAspect="1"/>
          </p:cNvGrpSpPr>
          <p:nvPr/>
        </p:nvGrpSpPr>
        <p:grpSpPr>
          <a:xfrm>
            <a:off x="9871579" y="5204815"/>
            <a:ext cx="138554" cy="1011445"/>
            <a:chOff x="9606116" y="1664356"/>
            <a:chExt cx="180000" cy="1314000"/>
          </a:xfrm>
        </p:grpSpPr>
        <p:sp>
          <p:nvSpPr>
            <p:cNvPr id="55" name="Rettangolo con angoli arrotondati 54">
              <a:extLst>
                <a:ext uri="{FF2B5EF4-FFF2-40B4-BE49-F238E27FC236}">
                  <a16:creationId xmlns:a16="http://schemas.microsoft.com/office/drawing/2014/main" id="{6631FC79-88A5-66B3-7430-E3D14D11368D}"/>
                </a:ext>
              </a:extLst>
            </p:cNvPr>
            <p:cNvSpPr/>
            <p:nvPr/>
          </p:nvSpPr>
          <p:spPr>
            <a:xfrm>
              <a:off x="9606116" y="1664356"/>
              <a:ext cx="180000" cy="1314000"/>
            </a:xfrm>
            <a:prstGeom prst="roundRect">
              <a:avLst>
                <a:gd name="adj" fmla="val 27478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56" name="Ovale 55">
              <a:extLst>
                <a:ext uri="{FF2B5EF4-FFF2-40B4-BE49-F238E27FC236}">
                  <a16:creationId xmlns:a16="http://schemas.microsoft.com/office/drawing/2014/main" id="{A6BFAB99-81B3-834B-B12E-0B30D79A865D}"/>
                </a:ext>
              </a:extLst>
            </p:cNvPr>
            <p:cNvSpPr/>
            <p:nvPr/>
          </p:nvSpPr>
          <p:spPr>
            <a:xfrm>
              <a:off x="9643543" y="1704466"/>
              <a:ext cx="108000" cy="108000"/>
            </a:xfrm>
            <a:prstGeom prst="ellipse">
              <a:avLst/>
            </a:prstGeom>
            <a:solidFill>
              <a:srgbClr val="DB92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rgbClr val="DB92C0"/>
                </a:solidFill>
              </a:endParaRPr>
            </a:p>
          </p:txBody>
        </p:sp>
        <p:sp>
          <p:nvSpPr>
            <p:cNvPr id="57" name="Ovale 56">
              <a:extLst>
                <a:ext uri="{FF2B5EF4-FFF2-40B4-BE49-F238E27FC236}">
                  <a16:creationId xmlns:a16="http://schemas.microsoft.com/office/drawing/2014/main" id="{E9873EAC-C9B1-CC4A-7815-6913D1A531E0}"/>
                </a:ext>
              </a:extLst>
            </p:cNvPr>
            <p:cNvSpPr/>
            <p:nvPr/>
          </p:nvSpPr>
          <p:spPr>
            <a:xfrm>
              <a:off x="9643543" y="1868805"/>
              <a:ext cx="108000" cy="108000"/>
            </a:xfrm>
            <a:prstGeom prst="ellipse">
              <a:avLst/>
            </a:prstGeom>
            <a:solidFill>
              <a:srgbClr val="963E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58" name="Ovale 57">
              <a:extLst>
                <a:ext uri="{FF2B5EF4-FFF2-40B4-BE49-F238E27FC236}">
                  <a16:creationId xmlns:a16="http://schemas.microsoft.com/office/drawing/2014/main" id="{EBD4A0A6-78D4-B03C-7C95-C662D883E6B9}"/>
                </a:ext>
              </a:extLst>
            </p:cNvPr>
            <p:cNvSpPr/>
            <p:nvPr/>
          </p:nvSpPr>
          <p:spPr>
            <a:xfrm>
              <a:off x="9643543" y="2033144"/>
              <a:ext cx="108000" cy="108000"/>
            </a:xfrm>
            <a:prstGeom prst="ellipse">
              <a:avLst/>
            </a:prstGeom>
            <a:solidFill>
              <a:srgbClr val="5B35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59" name="Ovale 58">
              <a:extLst>
                <a:ext uri="{FF2B5EF4-FFF2-40B4-BE49-F238E27FC236}">
                  <a16:creationId xmlns:a16="http://schemas.microsoft.com/office/drawing/2014/main" id="{CF04AFBF-FF4A-961C-2C38-C07EEB42F20C}"/>
                </a:ext>
              </a:extLst>
            </p:cNvPr>
            <p:cNvSpPr/>
            <p:nvPr/>
          </p:nvSpPr>
          <p:spPr>
            <a:xfrm>
              <a:off x="9643543" y="2197483"/>
              <a:ext cx="108000" cy="108000"/>
            </a:xfrm>
            <a:prstGeom prst="ellipse">
              <a:avLst/>
            </a:prstGeom>
            <a:solidFill>
              <a:srgbClr val="AEC7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60" name="Ovale 59">
              <a:extLst>
                <a:ext uri="{FF2B5EF4-FFF2-40B4-BE49-F238E27FC236}">
                  <a16:creationId xmlns:a16="http://schemas.microsoft.com/office/drawing/2014/main" id="{3CD3D9B7-EF1E-F019-CF2D-4BED9928B9D8}"/>
                </a:ext>
              </a:extLst>
            </p:cNvPr>
            <p:cNvSpPr/>
            <p:nvPr/>
          </p:nvSpPr>
          <p:spPr>
            <a:xfrm>
              <a:off x="9643543" y="2361822"/>
              <a:ext cx="108000" cy="108000"/>
            </a:xfrm>
            <a:prstGeom prst="ellipse">
              <a:avLst/>
            </a:prstGeom>
            <a:solidFill>
              <a:srgbClr val="7DAB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61" name="Ovale 60">
              <a:extLst>
                <a:ext uri="{FF2B5EF4-FFF2-40B4-BE49-F238E27FC236}">
                  <a16:creationId xmlns:a16="http://schemas.microsoft.com/office/drawing/2014/main" id="{5C9E4170-E4CA-6FA6-1CC9-78A5B1C0DC1F}"/>
                </a:ext>
              </a:extLst>
            </p:cNvPr>
            <p:cNvSpPr/>
            <p:nvPr/>
          </p:nvSpPr>
          <p:spPr>
            <a:xfrm>
              <a:off x="9643543" y="2526161"/>
              <a:ext cx="108000" cy="108000"/>
            </a:xfrm>
            <a:prstGeom prst="ellipse">
              <a:avLst/>
            </a:prstGeom>
            <a:solidFill>
              <a:srgbClr val="3EA9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62" name="Ovale 61">
              <a:extLst>
                <a:ext uri="{FF2B5EF4-FFF2-40B4-BE49-F238E27FC236}">
                  <a16:creationId xmlns:a16="http://schemas.microsoft.com/office/drawing/2014/main" id="{A2AA45D2-4470-A502-28F9-66B7BFD36179}"/>
                </a:ext>
              </a:extLst>
            </p:cNvPr>
            <p:cNvSpPr/>
            <p:nvPr/>
          </p:nvSpPr>
          <p:spPr>
            <a:xfrm>
              <a:off x="9643543" y="2690500"/>
              <a:ext cx="108000" cy="108000"/>
            </a:xfrm>
            <a:prstGeom prst="ellipse">
              <a:avLst/>
            </a:prstGeom>
            <a:solidFill>
              <a:srgbClr val="3F9ED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63" name="Ovale 62">
              <a:extLst>
                <a:ext uri="{FF2B5EF4-FFF2-40B4-BE49-F238E27FC236}">
                  <a16:creationId xmlns:a16="http://schemas.microsoft.com/office/drawing/2014/main" id="{0F1ADBFF-891D-7B25-C5F0-FB3A8C5302D2}"/>
                </a:ext>
              </a:extLst>
            </p:cNvPr>
            <p:cNvSpPr/>
            <p:nvPr/>
          </p:nvSpPr>
          <p:spPr>
            <a:xfrm>
              <a:off x="9643543" y="2854840"/>
              <a:ext cx="108000" cy="108000"/>
            </a:xfrm>
            <a:prstGeom prst="ellipse">
              <a:avLst/>
            </a:prstGeom>
            <a:solidFill>
              <a:srgbClr val="205C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</p:grpSp>
      <p:cxnSp>
        <p:nvCxnSpPr>
          <p:cNvPr id="67" name="Connettore a gomito 66">
            <a:extLst>
              <a:ext uri="{FF2B5EF4-FFF2-40B4-BE49-F238E27FC236}">
                <a16:creationId xmlns:a16="http://schemas.microsoft.com/office/drawing/2014/main" id="{5A03C9DE-A949-A2CD-86B2-0891CA2E1C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48026" y="4739809"/>
            <a:ext cx="1289934" cy="758448"/>
          </a:xfrm>
          <a:prstGeom prst="bentConnector3">
            <a:avLst>
              <a:gd name="adj1" fmla="val 10030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2" name="Gruppo 91">
            <a:extLst>
              <a:ext uri="{FF2B5EF4-FFF2-40B4-BE49-F238E27FC236}">
                <a16:creationId xmlns:a16="http://schemas.microsoft.com/office/drawing/2014/main" id="{BE8D4645-6E5E-54DC-3439-203C3B13F98A}"/>
              </a:ext>
            </a:extLst>
          </p:cNvPr>
          <p:cNvGrpSpPr/>
          <p:nvPr/>
        </p:nvGrpSpPr>
        <p:grpSpPr>
          <a:xfrm>
            <a:off x="10977644" y="5578919"/>
            <a:ext cx="138554" cy="379497"/>
            <a:chOff x="10443369" y="2855751"/>
            <a:chExt cx="138554" cy="379497"/>
          </a:xfrm>
        </p:grpSpPr>
        <p:sp>
          <p:nvSpPr>
            <p:cNvPr id="83" name="Rettangolo con angoli arrotondati 82">
              <a:extLst>
                <a:ext uri="{FF2B5EF4-FFF2-40B4-BE49-F238E27FC236}">
                  <a16:creationId xmlns:a16="http://schemas.microsoft.com/office/drawing/2014/main" id="{7AB61BC8-F573-87DB-8FEA-985C74CA6F1A}"/>
                </a:ext>
              </a:extLst>
            </p:cNvPr>
            <p:cNvSpPr/>
            <p:nvPr/>
          </p:nvSpPr>
          <p:spPr>
            <a:xfrm>
              <a:off x="10443369" y="2855751"/>
              <a:ext cx="138554" cy="379497"/>
            </a:xfrm>
            <a:prstGeom prst="roundRect">
              <a:avLst>
                <a:gd name="adj" fmla="val 27478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84" name="Ovale 83">
              <a:extLst>
                <a:ext uri="{FF2B5EF4-FFF2-40B4-BE49-F238E27FC236}">
                  <a16:creationId xmlns:a16="http://schemas.microsoft.com/office/drawing/2014/main" id="{EB94D50D-3ADA-890F-663E-964FE8118372}"/>
                </a:ext>
              </a:extLst>
            </p:cNvPr>
            <p:cNvSpPr/>
            <p:nvPr/>
          </p:nvSpPr>
          <p:spPr>
            <a:xfrm>
              <a:off x="10472178" y="2876793"/>
              <a:ext cx="83132" cy="83132"/>
            </a:xfrm>
            <a:prstGeom prst="ellipse">
              <a:avLst/>
            </a:prstGeom>
            <a:solidFill>
              <a:srgbClr val="7DAB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rgbClr val="DB92C0"/>
                </a:solidFill>
              </a:endParaRPr>
            </a:p>
          </p:txBody>
        </p:sp>
        <p:sp>
          <p:nvSpPr>
            <p:cNvPr id="85" name="Ovale 84">
              <a:extLst>
                <a:ext uri="{FF2B5EF4-FFF2-40B4-BE49-F238E27FC236}">
                  <a16:creationId xmlns:a16="http://schemas.microsoft.com/office/drawing/2014/main" id="{4FD5753A-0DD2-5F5E-727B-8E4725D4C63C}"/>
                </a:ext>
              </a:extLst>
            </p:cNvPr>
            <p:cNvSpPr/>
            <p:nvPr/>
          </p:nvSpPr>
          <p:spPr>
            <a:xfrm>
              <a:off x="10472178" y="3003293"/>
              <a:ext cx="83132" cy="83132"/>
            </a:xfrm>
            <a:prstGeom prst="ellipse">
              <a:avLst/>
            </a:prstGeom>
            <a:solidFill>
              <a:srgbClr val="205C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86" name="Ovale 85">
              <a:extLst>
                <a:ext uri="{FF2B5EF4-FFF2-40B4-BE49-F238E27FC236}">
                  <a16:creationId xmlns:a16="http://schemas.microsoft.com/office/drawing/2014/main" id="{4AB2FB66-6443-6224-3FCA-2BFF46069A56}"/>
                </a:ext>
              </a:extLst>
            </p:cNvPr>
            <p:cNvSpPr/>
            <p:nvPr/>
          </p:nvSpPr>
          <p:spPr>
            <a:xfrm>
              <a:off x="10472178" y="3129792"/>
              <a:ext cx="83132" cy="83132"/>
            </a:xfrm>
            <a:prstGeom prst="ellipse">
              <a:avLst/>
            </a:prstGeom>
            <a:solidFill>
              <a:srgbClr val="DC14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</p:grpSp>
      <p:grpSp>
        <p:nvGrpSpPr>
          <p:cNvPr id="102" name="Gruppo 101">
            <a:extLst>
              <a:ext uri="{FF2B5EF4-FFF2-40B4-BE49-F238E27FC236}">
                <a16:creationId xmlns:a16="http://schemas.microsoft.com/office/drawing/2014/main" id="{B0AD8A0E-CCE5-420D-16F2-8F886A41EFBB}"/>
              </a:ext>
            </a:extLst>
          </p:cNvPr>
          <p:cNvGrpSpPr/>
          <p:nvPr/>
        </p:nvGrpSpPr>
        <p:grpSpPr>
          <a:xfrm>
            <a:off x="11026215" y="4031983"/>
            <a:ext cx="138554" cy="136096"/>
            <a:chOff x="10924461" y="3855318"/>
            <a:chExt cx="138554" cy="136096"/>
          </a:xfrm>
        </p:grpSpPr>
        <p:sp>
          <p:nvSpPr>
            <p:cNvPr id="94" name="Rettangolo con angoli arrotondati 93">
              <a:extLst>
                <a:ext uri="{FF2B5EF4-FFF2-40B4-BE49-F238E27FC236}">
                  <a16:creationId xmlns:a16="http://schemas.microsoft.com/office/drawing/2014/main" id="{E5CE17B4-8025-7570-E135-0BAD0FD9F9FD}"/>
                </a:ext>
              </a:extLst>
            </p:cNvPr>
            <p:cNvSpPr/>
            <p:nvPr/>
          </p:nvSpPr>
          <p:spPr>
            <a:xfrm>
              <a:off x="10924461" y="3855318"/>
              <a:ext cx="138554" cy="136096"/>
            </a:xfrm>
            <a:prstGeom prst="roundRect">
              <a:avLst>
                <a:gd name="adj" fmla="val 27478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95" name="Ovale 94">
              <a:extLst>
                <a:ext uri="{FF2B5EF4-FFF2-40B4-BE49-F238E27FC236}">
                  <a16:creationId xmlns:a16="http://schemas.microsoft.com/office/drawing/2014/main" id="{95011B00-C14C-9A97-39E1-F8618608A18E}"/>
                </a:ext>
              </a:extLst>
            </p:cNvPr>
            <p:cNvSpPr/>
            <p:nvPr/>
          </p:nvSpPr>
          <p:spPr>
            <a:xfrm>
              <a:off x="10953270" y="3881800"/>
              <a:ext cx="83132" cy="83132"/>
            </a:xfrm>
            <a:prstGeom prst="ellipse">
              <a:avLst/>
            </a:prstGeom>
            <a:solidFill>
              <a:srgbClr val="DC14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rgbClr val="DB92C0"/>
                </a:solidFill>
              </a:endParaRPr>
            </a:p>
          </p:txBody>
        </p:sp>
      </p:grpSp>
      <p:grpSp>
        <p:nvGrpSpPr>
          <p:cNvPr id="103" name="Gruppo 102">
            <a:extLst>
              <a:ext uri="{FF2B5EF4-FFF2-40B4-BE49-F238E27FC236}">
                <a16:creationId xmlns:a16="http://schemas.microsoft.com/office/drawing/2014/main" id="{32A91221-3563-35C5-6E68-2BE4D82310C2}"/>
              </a:ext>
            </a:extLst>
          </p:cNvPr>
          <p:cNvGrpSpPr/>
          <p:nvPr/>
        </p:nvGrpSpPr>
        <p:grpSpPr>
          <a:xfrm>
            <a:off x="11037067" y="2903083"/>
            <a:ext cx="138554" cy="136096"/>
            <a:chOff x="11076861" y="4007718"/>
            <a:chExt cx="138554" cy="136096"/>
          </a:xfrm>
        </p:grpSpPr>
        <p:sp>
          <p:nvSpPr>
            <p:cNvPr id="98" name="Rettangolo con angoli arrotondati 97">
              <a:extLst>
                <a:ext uri="{FF2B5EF4-FFF2-40B4-BE49-F238E27FC236}">
                  <a16:creationId xmlns:a16="http://schemas.microsoft.com/office/drawing/2014/main" id="{10DD29C3-3BDF-F52F-B1BA-27A63B63B554}"/>
                </a:ext>
              </a:extLst>
            </p:cNvPr>
            <p:cNvSpPr/>
            <p:nvPr/>
          </p:nvSpPr>
          <p:spPr>
            <a:xfrm>
              <a:off x="11076861" y="4007718"/>
              <a:ext cx="138554" cy="136096"/>
            </a:xfrm>
            <a:prstGeom prst="roundRect">
              <a:avLst>
                <a:gd name="adj" fmla="val 27478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99" name="Ovale 98">
              <a:extLst>
                <a:ext uri="{FF2B5EF4-FFF2-40B4-BE49-F238E27FC236}">
                  <a16:creationId xmlns:a16="http://schemas.microsoft.com/office/drawing/2014/main" id="{8767102D-0DD5-A409-B823-D42924268D7E}"/>
                </a:ext>
              </a:extLst>
            </p:cNvPr>
            <p:cNvSpPr/>
            <p:nvPr/>
          </p:nvSpPr>
          <p:spPr>
            <a:xfrm>
              <a:off x="11107551" y="4034200"/>
              <a:ext cx="83132" cy="83132"/>
            </a:xfrm>
            <a:prstGeom prst="ellipse">
              <a:avLst/>
            </a:prstGeom>
            <a:solidFill>
              <a:srgbClr val="205C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rgbClr val="DB92C0"/>
                </a:solidFill>
              </a:endParaRPr>
            </a:p>
          </p:txBody>
        </p:sp>
      </p:grpSp>
      <p:grpSp>
        <p:nvGrpSpPr>
          <p:cNvPr id="104" name="Gruppo 103">
            <a:extLst>
              <a:ext uri="{FF2B5EF4-FFF2-40B4-BE49-F238E27FC236}">
                <a16:creationId xmlns:a16="http://schemas.microsoft.com/office/drawing/2014/main" id="{91AEEEEA-8DB6-22C4-007D-68DA268FB72D}"/>
              </a:ext>
            </a:extLst>
          </p:cNvPr>
          <p:cNvGrpSpPr/>
          <p:nvPr/>
        </p:nvGrpSpPr>
        <p:grpSpPr>
          <a:xfrm>
            <a:off x="11046921" y="1809685"/>
            <a:ext cx="138554" cy="136096"/>
            <a:chOff x="11229261" y="4160118"/>
            <a:chExt cx="138554" cy="136096"/>
          </a:xfrm>
        </p:grpSpPr>
        <p:sp>
          <p:nvSpPr>
            <p:cNvPr id="100" name="Rettangolo con angoli arrotondati 99">
              <a:extLst>
                <a:ext uri="{FF2B5EF4-FFF2-40B4-BE49-F238E27FC236}">
                  <a16:creationId xmlns:a16="http://schemas.microsoft.com/office/drawing/2014/main" id="{384160F9-A7A8-7585-6C17-431D5F28A507}"/>
                </a:ext>
              </a:extLst>
            </p:cNvPr>
            <p:cNvSpPr/>
            <p:nvPr/>
          </p:nvSpPr>
          <p:spPr>
            <a:xfrm>
              <a:off x="11229261" y="4160118"/>
              <a:ext cx="138554" cy="136096"/>
            </a:xfrm>
            <a:prstGeom prst="roundRect">
              <a:avLst>
                <a:gd name="adj" fmla="val 27478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101" name="Ovale 100">
              <a:extLst>
                <a:ext uri="{FF2B5EF4-FFF2-40B4-BE49-F238E27FC236}">
                  <a16:creationId xmlns:a16="http://schemas.microsoft.com/office/drawing/2014/main" id="{5909710D-0604-4003-6091-A7DAF2028792}"/>
                </a:ext>
              </a:extLst>
            </p:cNvPr>
            <p:cNvSpPr/>
            <p:nvPr/>
          </p:nvSpPr>
          <p:spPr>
            <a:xfrm>
              <a:off x="11259951" y="4186600"/>
              <a:ext cx="83132" cy="83132"/>
            </a:xfrm>
            <a:prstGeom prst="ellipse">
              <a:avLst/>
            </a:prstGeom>
            <a:solidFill>
              <a:srgbClr val="7DAB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rgbClr val="DB92C0"/>
                </a:solidFill>
              </a:endParaRPr>
            </a:p>
          </p:txBody>
        </p:sp>
      </p:grpSp>
      <p:cxnSp>
        <p:nvCxnSpPr>
          <p:cNvPr id="106" name="Connettore diritto a freccia 105">
            <a:extLst>
              <a:ext uri="{FF2B5EF4-FFF2-40B4-BE49-F238E27FC236}">
                <a16:creationId xmlns:a16="http://schemas.microsoft.com/office/drawing/2014/main" id="{AD0745D5-E9CB-14A0-313C-17A3EEC32CCB}"/>
              </a:ext>
            </a:extLst>
          </p:cNvPr>
          <p:cNvCxnSpPr>
            <a:cxnSpLocks/>
          </p:cNvCxnSpPr>
          <p:nvPr/>
        </p:nvCxnSpPr>
        <p:spPr>
          <a:xfrm>
            <a:off x="9444465" y="1891651"/>
            <a:ext cx="348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Connettore diritto a freccia 107">
            <a:extLst>
              <a:ext uri="{FF2B5EF4-FFF2-40B4-BE49-F238E27FC236}">
                <a16:creationId xmlns:a16="http://schemas.microsoft.com/office/drawing/2014/main" id="{08785BA3-B656-2419-367D-86A7974020A1}"/>
              </a:ext>
            </a:extLst>
          </p:cNvPr>
          <p:cNvCxnSpPr>
            <a:cxnSpLocks/>
          </p:cNvCxnSpPr>
          <p:nvPr/>
        </p:nvCxnSpPr>
        <p:spPr>
          <a:xfrm>
            <a:off x="9444465" y="2979391"/>
            <a:ext cx="348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Connettore diritto a freccia 108">
            <a:extLst>
              <a:ext uri="{FF2B5EF4-FFF2-40B4-BE49-F238E27FC236}">
                <a16:creationId xmlns:a16="http://schemas.microsoft.com/office/drawing/2014/main" id="{7FBDF381-AC03-2DBD-9FC6-1BEDABFD0D9D}"/>
              </a:ext>
            </a:extLst>
          </p:cNvPr>
          <p:cNvCxnSpPr>
            <a:cxnSpLocks/>
          </p:cNvCxnSpPr>
          <p:nvPr/>
        </p:nvCxnSpPr>
        <p:spPr>
          <a:xfrm>
            <a:off x="9444465" y="4086763"/>
            <a:ext cx="348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nettore diritto a freccia 113">
            <a:extLst>
              <a:ext uri="{FF2B5EF4-FFF2-40B4-BE49-F238E27FC236}">
                <a16:creationId xmlns:a16="http://schemas.microsoft.com/office/drawing/2014/main" id="{237FC35B-D868-4445-40D7-E2BE3C9FA33A}"/>
              </a:ext>
            </a:extLst>
          </p:cNvPr>
          <p:cNvCxnSpPr>
            <a:cxnSpLocks/>
          </p:cNvCxnSpPr>
          <p:nvPr/>
        </p:nvCxnSpPr>
        <p:spPr>
          <a:xfrm>
            <a:off x="9438219" y="5772271"/>
            <a:ext cx="348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6" name="Gruppo 115">
            <a:extLst>
              <a:ext uri="{FF2B5EF4-FFF2-40B4-BE49-F238E27FC236}">
                <a16:creationId xmlns:a16="http://schemas.microsoft.com/office/drawing/2014/main" id="{A3570801-EDF1-9C08-A11E-10A41BF23D9C}"/>
              </a:ext>
            </a:extLst>
          </p:cNvPr>
          <p:cNvGrpSpPr/>
          <p:nvPr/>
        </p:nvGrpSpPr>
        <p:grpSpPr>
          <a:xfrm>
            <a:off x="6802911" y="2712142"/>
            <a:ext cx="1614090" cy="1714783"/>
            <a:chOff x="6802910" y="2712142"/>
            <a:chExt cx="1729831" cy="1714783"/>
          </a:xfrm>
        </p:grpSpPr>
        <p:sp>
          <p:nvSpPr>
            <p:cNvPr id="16" name="Rettangolo con angoli arrotondati 15">
              <a:extLst>
                <a:ext uri="{FF2B5EF4-FFF2-40B4-BE49-F238E27FC236}">
                  <a16:creationId xmlns:a16="http://schemas.microsoft.com/office/drawing/2014/main" id="{E3677CEC-E1DB-EDF5-18E6-81D6C79A1E86}"/>
                </a:ext>
              </a:extLst>
            </p:cNvPr>
            <p:cNvSpPr/>
            <p:nvPr/>
          </p:nvSpPr>
          <p:spPr>
            <a:xfrm>
              <a:off x="6802910" y="2712142"/>
              <a:ext cx="1729831" cy="1658765"/>
            </a:xfrm>
            <a:prstGeom prst="roundRect">
              <a:avLst/>
            </a:prstGeom>
            <a:solidFill>
              <a:srgbClr val="008D00">
                <a:alpha val="12096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115" name="CasellaDiTesto 114">
              <a:extLst>
                <a:ext uri="{FF2B5EF4-FFF2-40B4-BE49-F238E27FC236}">
                  <a16:creationId xmlns:a16="http://schemas.microsoft.com/office/drawing/2014/main" id="{1253A8BF-7C40-60D0-049A-99F2790A85CF}"/>
                </a:ext>
              </a:extLst>
            </p:cNvPr>
            <p:cNvSpPr txBox="1"/>
            <p:nvPr/>
          </p:nvSpPr>
          <p:spPr>
            <a:xfrm>
              <a:off x="6895472" y="2802552"/>
              <a:ext cx="1315271" cy="16243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it-GB" sz="1100" b="1" i="1">
                  <a:solidFill>
                    <a:schemeClr val="tx1"/>
                  </a:solidFill>
                </a:rPr>
                <a:t>Curated peptide </a:t>
              </a:r>
            </a:p>
            <a:p>
              <a:pPr algn="l">
                <a:lnSpc>
                  <a:spcPct val="105000"/>
                </a:lnSpc>
              </a:pPr>
              <a:r>
                <a:rPr lang="it-GB" sz="1100" b="1" i="1">
                  <a:solidFill>
                    <a:schemeClr val="tx1"/>
                  </a:solidFill>
                </a:rPr>
                <a:t>dataset</a:t>
              </a:r>
            </a:p>
            <a:p>
              <a:pPr algn="l">
                <a:lnSpc>
                  <a:spcPct val="105000"/>
                </a:lnSpc>
              </a:pPr>
              <a:endParaRPr lang="it-GB" sz="1100"/>
            </a:p>
            <a:p>
              <a:pPr algn="l">
                <a:lnSpc>
                  <a:spcPct val="105000"/>
                </a:lnSpc>
              </a:pPr>
              <a:r>
                <a:rPr lang="it-IT" sz="1000">
                  <a:solidFill>
                    <a:schemeClr val="tx1"/>
                  </a:solidFill>
                </a:rPr>
                <a:t>C</a:t>
              </a:r>
              <a:r>
                <a:rPr lang="it-GB" sz="1000">
                  <a:solidFill>
                    <a:schemeClr val="tx1"/>
                  </a:solidFill>
                </a:rPr>
                <a:t>anonical &amp; </a:t>
              </a:r>
            </a:p>
            <a:p>
              <a:pPr algn="l">
                <a:lnSpc>
                  <a:spcPct val="105000"/>
                </a:lnSpc>
              </a:pPr>
              <a:r>
                <a:rPr lang="it-GB" sz="1000">
                  <a:solidFill>
                    <a:schemeClr val="tx1"/>
                  </a:solidFill>
                </a:rPr>
                <a:t>non-canonical </a:t>
              </a:r>
            </a:p>
            <a:p>
              <a:pPr algn="l">
                <a:lnSpc>
                  <a:spcPct val="105000"/>
                </a:lnSpc>
              </a:pPr>
              <a:r>
                <a:rPr lang="it-GB" sz="1000">
                  <a:solidFill>
                    <a:schemeClr val="tx1"/>
                  </a:solidFill>
                </a:rPr>
                <a:t>sequences</a:t>
              </a:r>
            </a:p>
            <a:p>
              <a:pPr marL="171450" indent="-1714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it-IT" sz="1000" err="1">
                  <a:solidFill>
                    <a:srgbClr val="006400"/>
                  </a:solidFill>
                </a:rPr>
                <a:t>P</a:t>
              </a:r>
              <a:r>
                <a:rPr lang="it-GB" sz="1000">
                  <a:solidFill>
                    <a:srgbClr val="006400"/>
                  </a:solidFill>
                </a:rPr>
                <a:t>urity </a:t>
              </a:r>
              <a:r>
                <a:rPr lang="it-GB" sz="1000"/>
                <a:t>(1,77 K)</a:t>
              </a:r>
            </a:p>
            <a:p>
              <a:pPr marL="171450" indent="-1714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it-IT" sz="1000">
                  <a:solidFill>
                    <a:srgbClr val="000080"/>
                  </a:solidFill>
                </a:rPr>
                <a:t>c</a:t>
              </a:r>
              <a:r>
                <a:rPr lang="it-GB" sz="1000">
                  <a:solidFill>
                    <a:srgbClr val="000080"/>
                  </a:solidFill>
                </a:rPr>
                <a:t>amsol_solubility </a:t>
              </a:r>
              <a:r>
                <a:rPr lang="it-GB" sz="1000"/>
                <a:t>(10 K)</a:t>
              </a:r>
            </a:p>
            <a:p>
              <a:pPr marL="171450" indent="-171450" algn="l">
                <a:lnSpc>
                  <a:spcPct val="105000"/>
                </a:lnSpc>
                <a:buFont typeface="Arial" panose="020B0604020202020204" pitchFamily="34" charset="0"/>
                <a:buChar char="•"/>
              </a:pPr>
              <a:r>
                <a:rPr lang="it-IT" sz="1000">
                  <a:solidFill>
                    <a:srgbClr val="C00000"/>
                  </a:solidFill>
                </a:rPr>
                <a:t>H</a:t>
              </a:r>
              <a:r>
                <a:rPr lang="it-GB" sz="1000">
                  <a:solidFill>
                    <a:srgbClr val="C00000"/>
                  </a:solidFill>
                </a:rPr>
                <a:t>emolysis </a:t>
              </a:r>
              <a:r>
                <a:rPr lang="it-GB" sz="1000"/>
                <a:t>(2 K)</a:t>
              </a:r>
            </a:p>
            <a:p>
              <a:pPr algn="l">
                <a:lnSpc>
                  <a:spcPct val="105000"/>
                </a:lnSpc>
              </a:pPr>
              <a:endParaRPr lang="it-GB" sz="1600">
                <a:solidFill>
                  <a:schemeClr val="tx1"/>
                </a:solidFill>
              </a:endParaRPr>
            </a:p>
          </p:txBody>
        </p:sp>
      </p:grp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C737A87D-BFA5-96AE-994D-12273BF4E07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383949" y="1966653"/>
            <a:ext cx="854185" cy="598650"/>
          </a:xfrm>
          <a:prstGeom prst="bentConnector3">
            <a:avLst>
              <a:gd name="adj1" fmla="val 9956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CasellaDiTesto 130">
            <a:extLst>
              <a:ext uri="{FF2B5EF4-FFF2-40B4-BE49-F238E27FC236}">
                <a16:creationId xmlns:a16="http://schemas.microsoft.com/office/drawing/2014/main" id="{1CB488A7-99C4-C835-69A5-865AA22C54C6}"/>
              </a:ext>
            </a:extLst>
          </p:cNvPr>
          <p:cNvSpPr txBox="1"/>
          <p:nvPr/>
        </p:nvSpPr>
        <p:spPr>
          <a:xfrm>
            <a:off x="9474400" y="4750091"/>
            <a:ext cx="977700" cy="5013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it-GB" sz="900" b="1">
                <a:solidFill>
                  <a:schemeClr val="tx1"/>
                </a:solidFill>
              </a:rPr>
              <a:t>CheMeleon</a:t>
            </a:r>
          </a:p>
          <a:p>
            <a:pPr algn="ctr">
              <a:lnSpc>
                <a:spcPct val="105000"/>
              </a:lnSpc>
            </a:pPr>
            <a:r>
              <a:rPr lang="it-IT" sz="900" b="1"/>
              <a:t>e</a:t>
            </a:r>
            <a:r>
              <a:rPr lang="it-GB" sz="900" b="1"/>
              <a:t>mbedding</a:t>
            </a:r>
            <a:endParaRPr lang="it-GB" sz="900" b="1">
              <a:solidFill>
                <a:schemeClr val="tx1"/>
              </a:solidFill>
            </a:endParaRPr>
          </a:p>
          <a:p>
            <a:pPr algn="ctr">
              <a:lnSpc>
                <a:spcPct val="105000"/>
              </a:lnSpc>
            </a:pPr>
            <a:r>
              <a:rPr lang="it-GB" sz="900"/>
              <a:t>2048-flot</a:t>
            </a:r>
            <a:endParaRPr lang="it-GB" sz="900">
              <a:solidFill>
                <a:schemeClr val="tx1"/>
              </a:solidFill>
            </a:endParaRPr>
          </a:p>
        </p:txBody>
      </p:sp>
      <p:sp>
        <p:nvSpPr>
          <p:cNvPr id="132" name="CasellaDiTesto 131">
            <a:extLst>
              <a:ext uri="{FF2B5EF4-FFF2-40B4-BE49-F238E27FC236}">
                <a16:creationId xmlns:a16="http://schemas.microsoft.com/office/drawing/2014/main" id="{691F0159-FA0E-EC1B-28B0-8BD813116A5E}"/>
              </a:ext>
            </a:extLst>
          </p:cNvPr>
          <p:cNvSpPr txBox="1"/>
          <p:nvPr/>
        </p:nvSpPr>
        <p:spPr>
          <a:xfrm>
            <a:off x="10452100" y="5072269"/>
            <a:ext cx="914400" cy="13609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GB" sz="900" b="1">
                <a:solidFill>
                  <a:schemeClr val="tx1"/>
                </a:solidFill>
              </a:rPr>
              <a:t>Multi-head</a:t>
            </a:r>
            <a:endParaRPr lang="it-GB" sz="900">
              <a:solidFill>
                <a:schemeClr val="tx1"/>
              </a:solidFill>
            </a:endParaRPr>
          </a:p>
        </p:txBody>
      </p:sp>
      <p:sp>
        <p:nvSpPr>
          <p:cNvPr id="133" name="CasellaDiTesto 132">
            <a:extLst>
              <a:ext uri="{FF2B5EF4-FFF2-40B4-BE49-F238E27FC236}">
                <a16:creationId xmlns:a16="http://schemas.microsoft.com/office/drawing/2014/main" id="{C736E457-971C-84A2-F9E7-5A29D57D6F23}"/>
              </a:ext>
            </a:extLst>
          </p:cNvPr>
          <p:cNvSpPr txBox="1"/>
          <p:nvPr/>
        </p:nvSpPr>
        <p:spPr>
          <a:xfrm>
            <a:off x="10452100" y="1417299"/>
            <a:ext cx="914400" cy="17004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GB" sz="900" b="1">
                <a:solidFill>
                  <a:schemeClr val="tx1"/>
                </a:solidFill>
              </a:rPr>
              <a:t>Single-head</a:t>
            </a:r>
            <a:endParaRPr lang="it-GB" sz="900">
              <a:solidFill>
                <a:schemeClr val="tx1"/>
              </a:solidFill>
            </a:endParaRPr>
          </a:p>
        </p:txBody>
      </p:sp>
      <p:sp>
        <p:nvSpPr>
          <p:cNvPr id="134" name="CasellaDiTesto 133">
            <a:extLst>
              <a:ext uri="{FF2B5EF4-FFF2-40B4-BE49-F238E27FC236}">
                <a16:creationId xmlns:a16="http://schemas.microsoft.com/office/drawing/2014/main" id="{40D68537-BE93-A7CA-EA9A-B6B1082D6B28}"/>
              </a:ext>
            </a:extLst>
          </p:cNvPr>
          <p:cNvSpPr txBox="1"/>
          <p:nvPr/>
        </p:nvSpPr>
        <p:spPr>
          <a:xfrm>
            <a:off x="8541643" y="5996352"/>
            <a:ext cx="1025150" cy="24966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GB" sz="900">
                <a:solidFill>
                  <a:schemeClr val="tx1"/>
                </a:solidFill>
              </a:rPr>
              <a:t>Frozen embedding</a:t>
            </a:r>
            <a:endParaRPr lang="it-GB" sz="900">
              <a:solidFill>
                <a:schemeClr val="tx1"/>
              </a:solidFill>
            </a:endParaRPr>
          </a:p>
        </p:txBody>
      </p:sp>
      <p:grpSp>
        <p:nvGrpSpPr>
          <p:cNvPr id="145" name="Gruppo 144">
            <a:extLst>
              <a:ext uri="{FF2B5EF4-FFF2-40B4-BE49-F238E27FC236}">
                <a16:creationId xmlns:a16="http://schemas.microsoft.com/office/drawing/2014/main" id="{CA68CA70-1C0D-6314-FB3B-96FD0E0AEC20}"/>
              </a:ext>
            </a:extLst>
          </p:cNvPr>
          <p:cNvGrpSpPr/>
          <p:nvPr/>
        </p:nvGrpSpPr>
        <p:grpSpPr>
          <a:xfrm>
            <a:off x="8633650" y="5497838"/>
            <a:ext cx="733589" cy="399478"/>
            <a:chOff x="8633650" y="5497838"/>
            <a:chExt cx="733589" cy="399478"/>
          </a:xfrm>
        </p:grpSpPr>
        <p:sp>
          <p:nvSpPr>
            <p:cNvPr id="130" name="Rettangolo 129">
              <a:extLst>
                <a:ext uri="{FF2B5EF4-FFF2-40B4-BE49-F238E27FC236}">
                  <a16:creationId xmlns:a16="http://schemas.microsoft.com/office/drawing/2014/main" id="{E1CBCDEE-D067-BD07-642E-62EE2ECF0B0D}"/>
                </a:ext>
              </a:extLst>
            </p:cNvPr>
            <p:cNvSpPr/>
            <p:nvPr/>
          </p:nvSpPr>
          <p:spPr>
            <a:xfrm>
              <a:off x="8633650" y="5628839"/>
              <a:ext cx="648944" cy="268477"/>
            </a:xfrm>
            <a:prstGeom prst="rect">
              <a:avLst/>
            </a:prstGeom>
            <a:solidFill>
              <a:srgbClr val="006400">
                <a:alpha val="74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GB" sz="900" b="1">
                  <a:solidFill>
                    <a:schemeClr val="bg1"/>
                  </a:solidFill>
                </a:rPr>
                <a:t>D-MPNN</a:t>
              </a:r>
            </a:p>
          </p:txBody>
        </p:sp>
        <p:pic>
          <p:nvPicPr>
            <p:cNvPr id="105" name="Graphic 52" descr="Lock with solid fill">
              <a:extLst>
                <a:ext uri="{FF2B5EF4-FFF2-40B4-BE49-F238E27FC236}">
                  <a16:creationId xmlns:a16="http://schemas.microsoft.com/office/drawing/2014/main" id="{5E4AB2AD-4C65-9ABE-B7B7-4F44C8FAB3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4115" y="5497838"/>
              <a:ext cx="213124" cy="213124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grpSp>
        <p:nvGrpSpPr>
          <p:cNvPr id="146" name="Gruppo 145">
            <a:extLst>
              <a:ext uri="{FF2B5EF4-FFF2-40B4-BE49-F238E27FC236}">
                <a16:creationId xmlns:a16="http://schemas.microsoft.com/office/drawing/2014/main" id="{105FB4A1-1EC1-815B-3501-FBF4BB8F62EC}"/>
              </a:ext>
            </a:extLst>
          </p:cNvPr>
          <p:cNvGrpSpPr/>
          <p:nvPr/>
        </p:nvGrpSpPr>
        <p:grpSpPr>
          <a:xfrm>
            <a:off x="8684263" y="3844933"/>
            <a:ext cx="733589" cy="399478"/>
            <a:chOff x="8633650" y="5497838"/>
            <a:chExt cx="733589" cy="399478"/>
          </a:xfrm>
        </p:grpSpPr>
        <p:sp>
          <p:nvSpPr>
            <p:cNvPr id="147" name="Rettangolo 146">
              <a:extLst>
                <a:ext uri="{FF2B5EF4-FFF2-40B4-BE49-F238E27FC236}">
                  <a16:creationId xmlns:a16="http://schemas.microsoft.com/office/drawing/2014/main" id="{5C1F8D01-D638-961C-3B9B-E7240FD469A0}"/>
                </a:ext>
              </a:extLst>
            </p:cNvPr>
            <p:cNvSpPr/>
            <p:nvPr/>
          </p:nvSpPr>
          <p:spPr>
            <a:xfrm>
              <a:off x="8633650" y="5628839"/>
              <a:ext cx="648944" cy="268477"/>
            </a:xfrm>
            <a:prstGeom prst="rect">
              <a:avLst/>
            </a:prstGeom>
            <a:solidFill>
              <a:srgbClr val="006400">
                <a:alpha val="74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GB" sz="900" b="1">
                  <a:solidFill>
                    <a:schemeClr val="bg1"/>
                  </a:solidFill>
                </a:rPr>
                <a:t>D-MPNN</a:t>
              </a:r>
            </a:p>
          </p:txBody>
        </p:sp>
        <p:pic>
          <p:nvPicPr>
            <p:cNvPr id="148" name="Graphic 52" descr="Lock with solid fill">
              <a:extLst>
                <a:ext uri="{FF2B5EF4-FFF2-40B4-BE49-F238E27FC236}">
                  <a16:creationId xmlns:a16="http://schemas.microsoft.com/office/drawing/2014/main" id="{7CC9C772-39BB-2075-E383-B9777324D4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4115" y="5497838"/>
              <a:ext cx="213124" cy="213124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grpSp>
        <p:nvGrpSpPr>
          <p:cNvPr id="149" name="Gruppo 148">
            <a:extLst>
              <a:ext uri="{FF2B5EF4-FFF2-40B4-BE49-F238E27FC236}">
                <a16:creationId xmlns:a16="http://schemas.microsoft.com/office/drawing/2014/main" id="{999873D6-D9B2-1659-7986-B255434816E6}"/>
              </a:ext>
            </a:extLst>
          </p:cNvPr>
          <p:cNvGrpSpPr/>
          <p:nvPr/>
        </p:nvGrpSpPr>
        <p:grpSpPr>
          <a:xfrm>
            <a:off x="8684263" y="2740338"/>
            <a:ext cx="733589" cy="399478"/>
            <a:chOff x="8633650" y="5497838"/>
            <a:chExt cx="733589" cy="399478"/>
          </a:xfrm>
        </p:grpSpPr>
        <p:sp>
          <p:nvSpPr>
            <p:cNvPr id="150" name="Rettangolo 149">
              <a:extLst>
                <a:ext uri="{FF2B5EF4-FFF2-40B4-BE49-F238E27FC236}">
                  <a16:creationId xmlns:a16="http://schemas.microsoft.com/office/drawing/2014/main" id="{20FE39FA-33FA-2C10-097C-2A842F6EECB4}"/>
                </a:ext>
              </a:extLst>
            </p:cNvPr>
            <p:cNvSpPr/>
            <p:nvPr/>
          </p:nvSpPr>
          <p:spPr>
            <a:xfrm>
              <a:off x="8633650" y="5628839"/>
              <a:ext cx="648944" cy="268477"/>
            </a:xfrm>
            <a:prstGeom prst="rect">
              <a:avLst/>
            </a:prstGeom>
            <a:solidFill>
              <a:srgbClr val="006400">
                <a:alpha val="74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GB" sz="900" b="1">
                  <a:solidFill>
                    <a:schemeClr val="bg1"/>
                  </a:solidFill>
                </a:rPr>
                <a:t>D-MPNN</a:t>
              </a:r>
            </a:p>
          </p:txBody>
        </p:sp>
        <p:pic>
          <p:nvPicPr>
            <p:cNvPr id="151" name="Graphic 52" descr="Lock with solid fill">
              <a:extLst>
                <a:ext uri="{FF2B5EF4-FFF2-40B4-BE49-F238E27FC236}">
                  <a16:creationId xmlns:a16="http://schemas.microsoft.com/office/drawing/2014/main" id="{D8F8A2F2-A0E4-E749-D45B-9C17FF690B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4115" y="5497838"/>
              <a:ext cx="213124" cy="213124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grpSp>
        <p:nvGrpSpPr>
          <p:cNvPr id="152" name="Gruppo 151">
            <a:extLst>
              <a:ext uri="{FF2B5EF4-FFF2-40B4-BE49-F238E27FC236}">
                <a16:creationId xmlns:a16="http://schemas.microsoft.com/office/drawing/2014/main" id="{15786930-5EEE-7310-AF0B-D9F84AC68360}"/>
              </a:ext>
            </a:extLst>
          </p:cNvPr>
          <p:cNvGrpSpPr/>
          <p:nvPr/>
        </p:nvGrpSpPr>
        <p:grpSpPr>
          <a:xfrm>
            <a:off x="8687423" y="1624358"/>
            <a:ext cx="733589" cy="399478"/>
            <a:chOff x="8633650" y="5497838"/>
            <a:chExt cx="733589" cy="399478"/>
          </a:xfrm>
        </p:grpSpPr>
        <p:sp>
          <p:nvSpPr>
            <p:cNvPr id="153" name="Rettangolo 152">
              <a:extLst>
                <a:ext uri="{FF2B5EF4-FFF2-40B4-BE49-F238E27FC236}">
                  <a16:creationId xmlns:a16="http://schemas.microsoft.com/office/drawing/2014/main" id="{794481AB-AD30-DBFF-37A6-A83C6084297D}"/>
                </a:ext>
              </a:extLst>
            </p:cNvPr>
            <p:cNvSpPr/>
            <p:nvPr/>
          </p:nvSpPr>
          <p:spPr>
            <a:xfrm>
              <a:off x="8633650" y="5628839"/>
              <a:ext cx="648944" cy="268477"/>
            </a:xfrm>
            <a:prstGeom prst="rect">
              <a:avLst/>
            </a:prstGeom>
            <a:solidFill>
              <a:srgbClr val="006400">
                <a:alpha val="74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GB" sz="900" b="1">
                  <a:solidFill>
                    <a:schemeClr val="bg1"/>
                  </a:solidFill>
                </a:rPr>
                <a:t>D-MPNN</a:t>
              </a:r>
            </a:p>
          </p:txBody>
        </p:sp>
        <p:pic>
          <p:nvPicPr>
            <p:cNvPr id="154" name="Graphic 52" descr="Lock with solid fill">
              <a:extLst>
                <a:ext uri="{FF2B5EF4-FFF2-40B4-BE49-F238E27FC236}">
                  <a16:creationId xmlns:a16="http://schemas.microsoft.com/office/drawing/2014/main" id="{B8014871-ACC9-7C21-B350-19AE751DE0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54115" y="5497838"/>
              <a:ext cx="213124" cy="213124"/>
            </a:xfrm>
            <a:prstGeom prst="rect">
              <a:avLst/>
            </a:prstGeom>
            <a:effectLst>
              <a:glow rad="101600">
                <a:schemeClr val="bg1">
                  <a:alpha val="60000"/>
                </a:schemeClr>
              </a:glow>
            </a:effectLst>
          </p:spPr>
        </p:pic>
      </p:grpSp>
      <p:grpSp>
        <p:nvGrpSpPr>
          <p:cNvPr id="160" name="Gruppo 159">
            <a:extLst>
              <a:ext uri="{FF2B5EF4-FFF2-40B4-BE49-F238E27FC236}">
                <a16:creationId xmlns:a16="http://schemas.microsoft.com/office/drawing/2014/main" id="{BADDB706-D407-54F2-1CDF-CAEBEF87AF4D}"/>
              </a:ext>
            </a:extLst>
          </p:cNvPr>
          <p:cNvGrpSpPr/>
          <p:nvPr/>
        </p:nvGrpSpPr>
        <p:grpSpPr>
          <a:xfrm>
            <a:off x="10059293" y="5656323"/>
            <a:ext cx="867418" cy="268477"/>
            <a:chOff x="10059293" y="5656323"/>
            <a:chExt cx="867418" cy="268477"/>
          </a:xfrm>
        </p:grpSpPr>
        <p:grpSp>
          <p:nvGrpSpPr>
            <p:cNvPr id="155" name="Gruppo 154">
              <a:extLst>
                <a:ext uri="{FF2B5EF4-FFF2-40B4-BE49-F238E27FC236}">
                  <a16:creationId xmlns:a16="http://schemas.microsoft.com/office/drawing/2014/main" id="{C11B43AD-EBDD-6047-51FE-8931ECA23394}"/>
                </a:ext>
              </a:extLst>
            </p:cNvPr>
            <p:cNvGrpSpPr/>
            <p:nvPr/>
          </p:nvGrpSpPr>
          <p:grpSpPr>
            <a:xfrm>
              <a:off x="10273865" y="5656323"/>
              <a:ext cx="652846" cy="268477"/>
              <a:chOff x="10273865" y="5656323"/>
              <a:chExt cx="652846" cy="268477"/>
            </a:xfrm>
          </p:grpSpPr>
          <p:cxnSp>
            <p:nvCxnSpPr>
              <p:cNvPr id="113" name="Connettore diritto a freccia 112">
                <a:extLst>
                  <a:ext uri="{FF2B5EF4-FFF2-40B4-BE49-F238E27FC236}">
                    <a16:creationId xmlns:a16="http://schemas.microsoft.com/office/drawing/2014/main" id="{994312B1-5E74-2EC3-379C-E3ED40F3DA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6711" y="5783908"/>
                <a:ext cx="18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6" name="Rettangolo 135">
                <a:extLst>
                  <a:ext uri="{FF2B5EF4-FFF2-40B4-BE49-F238E27FC236}">
                    <a16:creationId xmlns:a16="http://schemas.microsoft.com/office/drawing/2014/main" id="{0995A1CA-12DB-EA6B-E09D-8C36CD6B4207}"/>
                  </a:ext>
                </a:extLst>
              </p:cNvPr>
              <p:cNvSpPr/>
              <p:nvPr/>
            </p:nvSpPr>
            <p:spPr>
              <a:xfrm>
                <a:off x="10273865" y="5656323"/>
                <a:ext cx="432684" cy="268477"/>
              </a:xfrm>
              <a:prstGeom prst="rect">
                <a:avLst/>
              </a:prstGeom>
              <a:solidFill>
                <a:srgbClr val="006400">
                  <a:alpha val="74000"/>
                </a:srgb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GB" sz="900" b="1">
                    <a:solidFill>
                      <a:schemeClr val="bg1"/>
                    </a:solidFill>
                  </a:rPr>
                  <a:t>FNN</a:t>
                </a:r>
              </a:p>
            </p:txBody>
          </p:sp>
        </p:grpSp>
        <p:cxnSp>
          <p:nvCxnSpPr>
            <p:cNvPr id="159" name="Connettore diritto a freccia 158">
              <a:extLst>
                <a:ext uri="{FF2B5EF4-FFF2-40B4-BE49-F238E27FC236}">
                  <a16:creationId xmlns:a16="http://schemas.microsoft.com/office/drawing/2014/main" id="{FF3DE48A-5156-0D7D-8102-4728298D1750}"/>
                </a:ext>
              </a:extLst>
            </p:cNvPr>
            <p:cNvCxnSpPr>
              <a:cxnSpLocks/>
            </p:cNvCxnSpPr>
            <p:nvPr/>
          </p:nvCxnSpPr>
          <p:spPr>
            <a:xfrm>
              <a:off x="10059293" y="5790561"/>
              <a:ext cx="1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1" name="Gruppo 160">
            <a:extLst>
              <a:ext uri="{FF2B5EF4-FFF2-40B4-BE49-F238E27FC236}">
                <a16:creationId xmlns:a16="http://schemas.microsoft.com/office/drawing/2014/main" id="{06AAF4B4-F6F5-BEF4-335D-84F8C8EA2754}"/>
              </a:ext>
            </a:extLst>
          </p:cNvPr>
          <p:cNvGrpSpPr/>
          <p:nvPr/>
        </p:nvGrpSpPr>
        <p:grpSpPr>
          <a:xfrm>
            <a:off x="10073759" y="3970429"/>
            <a:ext cx="867418" cy="268477"/>
            <a:chOff x="10059293" y="5656323"/>
            <a:chExt cx="867418" cy="268477"/>
          </a:xfrm>
        </p:grpSpPr>
        <p:grpSp>
          <p:nvGrpSpPr>
            <p:cNvPr id="162" name="Gruppo 161">
              <a:extLst>
                <a:ext uri="{FF2B5EF4-FFF2-40B4-BE49-F238E27FC236}">
                  <a16:creationId xmlns:a16="http://schemas.microsoft.com/office/drawing/2014/main" id="{B69ED7D2-AEE7-C48A-58B1-0A4569A3B81F}"/>
                </a:ext>
              </a:extLst>
            </p:cNvPr>
            <p:cNvGrpSpPr/>
            <p:nvPr/>
          </p:nvGrpSpPr>
          <p:grpSpPr>
            <a:xfrm>
              <a:off x="10273865" y="5656323"/>
              <a:ext cx="652846" cy="268477"/>
              <a:chOff x="10273865" y="5656323"/>
              <a:chExt cx="652846" cy="268477"/>
            </a:xfrm>
          </p:grpSpPr>
          <p:cxnSp>
            <p:nvCxnSpPr>
              <p:cNvPr id="164" name="Connettore diritto a freccia 163">
                <a:extLst>
                  <a:ext uri="{FF2B5EF4-FFF2-40B4-BE49-F238E27FC236}">
                    <a16:creationId xmlns:a16="http://schemas.microsoft.com/office/drawing/2014/main" id="{01322D9A-126F-362B-553B-0C552874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6711" y="5783908"/>
                <a:ext cx="18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5" name="Rettangolo 164">
                <a:extLst>
                  <a:ext uri="{FF2B5EF4-FFF2-40B4-BE49-F238E27FC236}">
                    <a16:creationId xmlns:a16="http://schemas.microsoft.com/office/drawing/2014/main" id="{50B5958F-2933-91DB-2C34-CE9358E44533}"/>
                  </a:ext>
                </a:extLst>
              </p:cNvPr>
              <p:cNvSpPr/>
              <p:nvPr/>
            </p:nvSpPr>
            <p:spPr>
              <a:xfrm>
                <a:off x="10273865" y="5656323"/>
                <a:ext cx="432684" cy="268477"/>
              </a:xfrm>
              <a:prstGeom prst="rect">
                <a:avLst/>
              </a:prstGeom>
              <a:solidFill>
                <a:srgbClr val="006400">
                  <a:alpha val="74000"/>
                </a:srgb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GB" sz="900" b="1">
                    <a:solidFill>
                      <a:schemeClr val="bg1"/>
                    </a:solidFill>
                  </a:rPr>
                  <a:t>FNN</a:t>
                </a:r>
              </a:p>
            </p:txBody>
          </p:sp>
        </p:grpSp>
        <p:cxnSp>
          <p:nvCxnSpPr>
            <p:cNvPr id="163" name="Connettore diritto a freccia 162">
              <a:extLst>
                <a:ext uri="{FF2B5EF4-FFF2-40B4-BE49-F238E27FC236}">
                  <a16:creationId xmlns:a16="http://schemas.microsoft.com/office/drawing/2014/main" id="{168A4EE8-FDBF-7B1F-BB4F-E9A787771324}"/>
                </a:ext>
              </a:extLst>
            </p:cNvPr>
            <p:cNvCxnSpPr>
              <a:cxnSpLocks/>
            </p:cNvCxnSpPr>
            <p:nvPr/>
          </p:nvCxnSpPr>
          <p:spPr>
            <a:xfrm>
              <a:off x="10059293" y="5790561"/>
              <a:ext cx="1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6" name="Gruppo 165">
            <a:extLst>
              <a:ext uri="{FF2B5EF4-FFF2-40B4-BE49-F238E27FC236}">
                <a16:creationId xmlns:a16="http://schemas.microsoft.com/office/drawing/2014/main" id="{5D458945-5F04-6A97-0EA2-3DF994F74C4A}"/>
              </a:ext>
            </a:extLst>
          </p:cNvPr>
          <p:cNvGrpSpPr/>
          <p:nvPr/>
        </p:nvGrpSpPr>
        <p:grpSpPr>
          <a:xfrm>
            <a:off x="10083852" y="2845152"/>
            <a:ext cx="867418" cy="268477"/>
            <a:chOff x="10059293" y="5656323"/>
            <a:chExt cx="867418" cy="268477"/>
          </a:xfrm>
        </p:grpSpPr>
        <p:grpSp>
          <p:nvGrpSpPr>
            <p:cNvPr id="167" name="Gruppo 166">
              <a:extLst>
                <a:ext uri="{FF2B5EF4-FFF2-40B4-BE49-F238E27FC236}">
                  <a16:creationId xmlns:a16="http://schemas.microsoft.com/office/drawing/2014/main" id="{B228415F-15BF-22F3-8810-26A110654FDE}"/>
                </a:ext>
              </a:extLst>
            </p:cNvPr>
            <p:cNvGrpSpPr/>
            <p:nvPr/>
          </p:nvGrpSpPr>
          <p:grpSpPr>
            <a:xfrm>
              <a:off x="10273865" y="5656323"/>
              <a:ext cx="652846" cy="268477"/>
              <a:chOff x="10273865" y="5656323"/>
              <a:chExt cx="652846" cy="268477"/>
            </a:xfrm>
          </p:grpSpPr>
          <p:cxnSp>
            <p:nvCxnSpPr>
              <p:cNvPr id="169" name="Connettore diritto a freccia 168">
                <a:extLst>
                  <a:ext uri="{FF2B5EF4-FFF2-40B4-BE49-F238E27FC236}">
                    <a16:creationId xmlns:a16="http://schemas.microsoft.com/office/drawing/2014/main" id="{C28F6D2E-F26F-F686-EF85-AEA0EE844E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6711" y="5783908"/>
                <a:ext cx="18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0" name="Rettangolo 169">
                <a:extLst>
                  <a:ext uri="{FF2B5EF4-FFF2-40B4-BE49-F238E27FC236}">
                    <a16:creationId xmlns:a16="http://schemas.microsoft.com/office/drawing/2014/main" id="{8A14C82B-6498-B609-2E0E-FDCFD3593D57}"/>
                  </a:ext>
                </a:extLst>
              </p:cNvPr>
              <p:cNvSpPr/>
              <p:nvPr/>
            </p:nvSpPr>
            <p:spPr>
              <a:xfrm>
                <a:off x="10273865" y="5656323"/>
                <a:ext cx="432684" cy="268477"/>
              </a:xfrm>
              <a:prstGeom prst="rect">
                <a:avLst/>
              </a:prstGeom>
              <a:solidFill>
                <a:srgbClr val="006400">
                  <a:alpha val="74000"/>
                </a:srgb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GB" sz="900" b="1">
                    <a:solidFill>
                      <a:schemeClr val="bg1"/>
                    </a:solidFill>
                  </a:rPr>
                  <a:t>FNN</a:t>
                </a:r>
              </a:p>
            </p:txBody>
          </p:sp>
        </p:grpSp>
        <p:cxnSp>
          <p:nvCxnSpPr>
            <p:cNvPr id="168" name="Connettore diritto a freccia 167">
              <a:extLst>
                <a:ext uri="{FF2B5EF4-FFF2-40B4-BE49-F238E27FC236}">
                  <a16:creationId xmlns:a16="http://schemas.microsoft.com/office/drawing/2014/main" id="{A0F78AF0-1229-CA41-0EB4-A436CF596A9D}"/>
                </a:ext>
              </a:extLst>
            </p:cNvPr>
            <p:cNvCxnSpPr>
              <a:cxnSpLocks/>
            </p:cNvCxnSpPr>
            <p:nvPr/>
          </p:nvCxnSpPr>
          <p:spPr>
            <a:xfrm>
              <a:off x="10059293" y="5790561"/>
              <a:ext cx="1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1" name="Gruppo 170">
            <a:extLst>
              <a:ext uri="{FF2B5EF4-FFF2-40B4-BE49-F238E27FC236}">
                <a16:creationId xmlns:a16="http://schemas.microsoft.com/office/drawing/2014/main" id="{77A27D8E-C93E-0DE6-DE99-0177C38F61F3}"/>
              </a:ext>
            </a:extLst>
          </p:cNvPr>
          <p:cNvGrpSpPr/>
          <p:nvPr/>
        </p:nvGrpSpPr>
        <p:grpSpPr>
          <a:xfrm>
            <a:off x="10119422" y="1749941"/>
            <a:ext cx="867418" cy="268477"/>
            <a:chOff x="10059293" y="5656323"/>
            <a:chExt cx="867418" cy="268477"/>
          </a:xfrm>
        </p:grpSpPr>
        <p:grpSp>
          <p:nvGrpSpPr>
            <p:cNvPr id="172" name="Gruppo 171">
              <a:extLst>
                <a:ext uri="{FF2B5EF4-FFF2-40B4-BE49-F238E27FC236}">
                  <a16:creationId xmlns:a16="http://schemas.microsoft.com/office/drawing/2014/main" id="{2951D244-C36D-0A64-C263-043576B6573B}"/>
                </a:ext>
              </a:extLst>
            </p:cNvPr>
            <p:cNvGrpSpPr/>
            <p:nvPr/>
          </p:nvGrpSpPr>
          <p:grpSpPr>
            <a:xfrm>
              <a:off x="10273865" y="5656323"/>
              <a:ext cx="652846" cy="268477"/>
              <a:chOff x="10273865" y="5656323"/>
              <a:chExt cx="652846" cy="268477"/>
            </a:xfrm>
          </p:grpSpPr>
          <p:cxnSp>
            <p:nvCxnSpPr>
              <p:cNvPr id="174" name="Connettore diritto a freccia 173">
                <a:extLst>
                  <a:ext uri="{FF2B5EF4-FFF2-40B4-BE49-F238E27FC236}">
                    <a16:creationId xmlns:a16="http://schemas.microsoft.com/office/drawing/2014/main" id="{699D8BA0-69AE-16A9-308E-CA534874A1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6711" y="5783908"/>
                <a:ext cx="18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5" name="Rettangolo 174">
                <a:extLst>
                  <a:ext uri="{FF2B5EF4-FFF2-40B4-BE49-F238E27FC236}">
                    <a16:creationId xmlns:a16="http://schemas.microsoft.com/office/drawing/2014/main" id="{756B05C5-0E87-C136-FE9A-4A5001010C1F}"/>
                  </a:ext>
                </a:extLst>
              </p:cNvPr>
              <p:cNvSpPr/>
              <p:nvPr/>
            </p:nvSpPr>
            <p:spPr>
              <a:xfrm>
                <a:off x="10273865" y="5656323"/>
                <a:ext cx="432684" cy="268477"/>
              </a:xfrm>
              <a:prstGeom prst="rect">
                <a:avLst/>
              </a:prstGeom>
              <a:solidFill>
                <a:srgbClr val="006400">
                  <a:alpha val="74000"/>
                </a:srgb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GB" sz="900" b="1">
                    <a:solidFill>
                      <a:schemeClr val="bg1"/>
                    </a:solidFill>
                  </a:rPr>
                  <a:t>FNN</a:t>
                </a:r>
              </a:p>
            </p:txBody>
          </p:sp>
        </p:grpSp>
        <p:cxnSp>
          <p:nvCxnSpPr>
            <p:cNvPr id="173" name="Connettore diritto a freccia 172">
              <a:extLst>
                <a:ext uri="{FF2B5EF4-FFF2-40B4-BE49-F238E27FC236}">
                  <a16:creationId xmlns:a16="http://schemas.microsoft.com/office/drawing/2014/main" id="{82901F2A-D6D8-00D6-FE5E-0220EF53C0E0}"/>
                </a:ext>
              </a:extLst>
            </p:cNvPr>
            <p:cNvCxnSpPr>
              <a:cxnSpLocks/>
            </p:cNvCxnSpPr>
            <p:nvPr/>
          </p:nvCxnSpPr>
          <p:spPr>
            <a:xfrm>
              <a:off x="10059293" y="5790561"/>
              <a:ext cx="1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C8EE8996-C2BA-4976-6345-49FD0B2BD21B}"/>
              </a:ext>
            </a:extLst>
          </p:cNvPr>
          <p:cNvSpPr txBox="1"/>
          <p:nvPr/>
        </p:nvSpPr>
        <p:spPr>
          <a:xfrm>
            <a:off x="7672499" y="152507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it-GB" sz="1400">
                <a:solidFill>
                  <a:schemeClr val="tx1"/>
                </a:solidFill>
              </a:rPr>
              <a:t>(1)</a:t>
            </a:r>
          </a:p>
        </p:txBody>
      </p:sp>
      <p:sp>
        <p:nvSpPr>
          <p:cNvPr id="177" name="CasellaDiTesto 176">
            <a:extLst>
              <a:ext uri="{FF2B5EF4-FFF2-40B4-BE49-F238E27FC236}">
                <a16:creationId xmlns:a16="http://schemas.microsoft.com/office/drawing/2014/main" id="{66C1ACE6-E20B-2D65-6FDF-9894FDC6BADC}"/>
              </a:ext>
            </a:extLst>
          </p:cNvPr>
          <p:cNvSpPr txBox="1"/>
          <p:nvPr/>
        </p:nvSpPr>
        <p:spPr>
          <a:xfrm>
            <a:off x="7782232" y="5817495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it-GB" sz="1400">
                <a:solidFill>
                  <a:schemeClr val="tx1"/>
                </a:solidFill>
              </a:rPr>
              <a:t>(2)</a:t>
            </a:r>
          </a:p>
        </p:txBody>
      </p:sp>
      <p:cxnSp>
        <p:nvCxnSpPr>
          <p:cNvPr id="179" name="Connettore diritto a freccia 178">
            <a:extLst>
              <a:ext uri="{FF2B5EF4-FFF2-40B4-BE49-F238E27FC236}">
                <a16:creationId xmlns:a16="http://schemas.microsoft.com/office/drawing/2014/main" id="{E10092EE-243F-0EF1-EC92-57FD59221C8A}"/>
              </a:ext>
            </a:extLst>
          </p:cNvPr>
          <p:cNvCxnSpPr>
            <a:cxnSpLocks/>
          </p:cNvCxnSpPr>
          <p:nvPr/>
        </p:nvCxnSpPr>
        <p:spPr>
          <a:xfrm>
            <a:off x="4071938" y="3429000"/>
            <a:ext cx="2659062" cy="0"/>
          </a:xfrm>
          <a:prstGeom prst="straightConnector1">
            <a:avLst/>
          </a:prstGeom>
          <a:ln w="28575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ttore dritto 181">
            <a:extLst>
              <a:ext uri="{FF2B5EF4-FFF2-40B4-BE49-F238E27FC236}">
                <a16:creationId xmlns:a16="http://schemas.microsoft.com/office/drawing/2014/main" id="{8365430F-0FBC-21B3-85C5-B500A3EF45C0}"/>
              </a:ext>
            </a:extLst>
          </p:cNvPr>
          <p:cNvCxnSpPr/>
          <p:nvPr/>
        </p:nvCxnSpPr>
        <p:spPr>
          <a:xfrm>
            <a:off x="3288687" y="3429000"/>
            <a:ext cx="542925" cy="0"/>
          </a:xfrm>
          <a:prstGeom prst="line">
            <a:avLst/>
          </a:prstGeom>
          <a:ln w="28575">
            <a:solidFill>
              <a:srgbClr val="4972B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CasellaDiTesto 182">
            <a:extLst>
              <a:ext uri="{FF2B5EF4-FFF2-40B4-BE49-F238E27FC236}">
                <a16:creationId xmlns:a16="http://schemas.microsoft.com/office/drawing/2014/main" id="{BA245C55-A2DF-F4DA-04A5-5BCE76E0FD46}"/>
              </a:ext>
            </a:extLst>
          </p:cNvPr>
          <p:cNvSpPr txBox="1"/>
          <p:nvPr/>
        </p:nvSpPr>
        <p:spPr>
          <a:xfrm>
            <a:off x="7093004" y="812921"/>
            <a:ext cx="1036695" cy="31571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it-GB" sz="1600" b="1">
                <a:solidFill>
                  <a:schemeClr val="tx1"/>
                </a:solidFill>
              </a:rPr>
              <a:t>This work</a:t>
            </a:r>
          </a:p>
        </p:txBody>
      </p:sp>
      <p:sp>
        <p:nvSpPr>
          <p:cNvPr id="184" name="CasellaDiTesto 183">
            <a:extLst>
              <a:ext uri="{FF2B5EF4-FFF2-40B4-BE49-F238E27FC236}">
                <a16:creationId xmlns:a16="http://schemas.microsoft.com/office/drawing/2014/main" id="{111FA14C-A6B7-638B-6093-589EF9F38E46}"/>
              </a:ext>
            </a:extLst>
          </p:cNvPr>
          <p:cNvSpPr txBox="1"/>
          <p:nvPr/>
        </p:nvSpPr>
        <p:spPr>
          <a:xfrm>
            <a:off x="7106098" y="1254300"/>
            <a:ext cx="116612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it-IT" sz="1600" b="1">
                <a:solidFill>
                  <a:srgbClr val="006400"/>
                </a:solidFill>
              </a:rPr>
              <a:t>f</a:t>
            </a:r>
            <a:r>
              <a:rPr lang="it-GB" sz="1600" b="1">
                <a:solidFill>
                  <a:srgbClr val="006400"/>
                </a:solidFill>
              </a:rPr>
              <a:t>ine-tuning</a:t>
            </a:r>
          </a:p>
        </p:txBody>
      </p:sp>
    </p:spTree>
    <p:extLst>
      <p:ext uri="{BB962C8B-B14F-4D97-AF65-F5344CB8AC3E}">
        <p14:creationId xmlns:p14="http://schemas.microsoft.com/office/powerpoint/2010/main" val="85617649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AB50A-7566-D733-4A40-522333305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Other tricks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DA39F-598A-C2D5-0B6C-60C1E96F7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2B7-F8E8-4065-A21D-90A8A970CBC5}" type="datetime1">
              <a:rPr lang="en-GB" smtClean="0"/>
              <a:t>11/09/2026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E1DC0-F0D5-799D-4196-56361F814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9</a:t>
            </a:fld>
            <a:endParaRPr lang="en-GB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9BABE6C-421B-F240-106F-E89567E0723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/>
              <a:t>For low-data dataset and generalisation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A6E7C25-A3EC-CD5A-4F82-B7DF76DDC662}"/>
              </a:ext>
            </a:extLst>
          </p:cNvPr>
          <p:cNvGrpSpPr/>
          <p:nvPr/>
        </p:nvGrpSpPr>
        <p:grpSpPr>
          <a:xfrm>
            <a:off x="325800" y="1758258"/>
            <a:ext cx="6093994" cy="3785652"/>
            <a:chOff x="325800" y="1228397"/>
            <a:chExt cx="6093994" cy="378565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E7D6A5-0CAF-7569-6118-3811D1199DEA}"/>
                </a:ext>
              </a:extLst>
            </p:cNvPr>
            <p:cNvSpPr txBox="1"/>
            <p:nvPr/>
          </p:nvSpPr>
          <p:spPr>
            <a:xfrm>
              <a:off x="325800" y="1228397"/>
              <a:ext cx="6093994" cy="3785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sz="2000" b="1">
                  <a:latin typeface="Calibri" panose="020F0502020204030204" pitchFamily="34" charset="0"/>
                  <a:cs typeface="Calibri" panose="020F0502020204030204" pitchFamily="34" charset="0"/>
                </a:rPr>
                <a:t>Early stopping</a:t>
              </a:r>
              <a:r>
                <a:rPr lang="en-GB" sz="2000">
                  <a:latin typeface="Calibri" panose="020F0502020204030204" pitchFamily="34" charset="0"/>
                  <a:cs typeface="Calibri" panose="020F0502020204030204" pitchFamily="34" charset="0"/>
                </a:rPr>
                <a:t>: to stop the training before it has fully converged, for reducing overfitting.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GB" sz="20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sz="2000" b="1" err="1">
                  <a:latin typeface="Calibri" panose="020F0502020204030204" pitchFamily="34" charset="0"/>
                  <a:cs typeface="Calibri" panose="020F0502020204030204" pitchFamily="34" charset="0"/>
                </a:rPr>
                <a:t>Ensembling</a:t>
              </a:r>
              <a:r>
                <a:rPr lang="en-GB" sz="2000">
                  <a:latin typeface="Calibri" panose="020F0502020204030204" pitchFamily="34" charset="0"/>
                  <a:cs typeface="Calibri" panose="020F0502020204030204" pitchFamily="34" charset="0"/>
                </a:rPr>
                <a:t>: to build several models and average their predictions.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GB" sz="20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sz="2000" b="1">
                  <a:latin typeface="Calibri" panose="020F0502020204030204" pitchFamily="34" charset="0"/>
                  <a:cs typeface="Calibri" panose="020F0502020204030204" pitchFamily="34" charset="0"/>
                </a:rPr>
                <a:t>Dropout</a:t>
              </a:r>
              <a:r>
                <a:rPr lang="en-GB" sz="2000">
                  <a:latin typeface="Calibri" panose="020F0502020204030204" pitchFamily="34" charset="0"/>
                  <a:cs typeface="Calibri" panose="020F0502020204030204" pitchFamily="34" charset="0"/>
                </a:rPr>
                <a:t>: to randomly clamp a subset (%) of hidden units to zero (training a slightly different network each time).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GB" sz="20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GB" sz="2000" b="1">
                  <a:latin typeface="Calibri" panose="020F0502020204030204" pitchFamily="34" charset="0"/>
                  <a:cs typeface="Calibri" panose="020F0502020204030204" pitchFamily="34" charset="0"/>
                </a:rPr>
                <a:t>Augmentation</a:t>
              </a:r>
              <a:r>
                <a:rPr lang="en-GB" sz="2000">
                  <a:latin typeface="Calibri" panose="020F0502020204030204" pitchFamily="34" charset="0"/>
                  <a:cs typeface="Calibri" panose="020F0502020204030204" pitchFamily="34" charset="0"/>
                </a:rPr>
                <a:t>: to transform each input data example in such way that the labels stays the same.</a:t>
              </a:r>
            </a:p>
          </p:txBody>
        </p:sp>
        <p:sp>
          <p:nvSpPr>
            <p:cNvPr id="15" name="Rettangolo arrotondato 8">
              <a:extLst>
                <a:ext uri="{FF2B5EF4-FFF2-40B4-BE49-F238E27FC236}">
                  <a16:creationId xmlns:a16="http://schemas.microsoft.com/office/drawing/2014/main" id="{5CB91164-42BE-006F-4936-D77C7419C087}"/>
                </a:ext>
              </a:extLst>
            </p:cNvPr>
            <p:cNvSpPr/>
            <p:nvPr/>
          </p:nvSpPr>
          <p:spPr>
            <a:xfrm>
              <a:off x="664708" y="4312092"/>
              <a:ext cx="1665658" cy="354690"/>
            </a:xfrm>
            <a:prstGeom prst="roundRect">
              <a:avLst/>
            </a:prstGeom>
            <a:solidFill>
              <a:srgbClr val="205C85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ttangolo arrotondato 8">
              <a:extLst>
                <a:ext uri="{FF2B5EF4-FFF2-40B4-BE49-F238E27FC236}">
                  <a16:creationId xmlns:a16="http://schemas.microsoft.com/office/drawing/2014/main" id="{8D9C816A-E49A-30E6-184E-7EA6D3903A8A}"/>
                </a:ext>
              </a:extLst>
            </p:cNvPr>
            <p:cNvSpPr/>
            <p:nvPr/>
          </p:nvSpPr>
          <p:spPr>
            <a:xfrm>
              <a:off x="664708" y="3086342"/>
              <a:ext cx="995650" cy="354690"/>
            </a:xfrm>
            <a:prstGeom prst="roundRect">
              <a:avLst/>
            </a:prstGeom>
            <a:solidFill>
              <a:srgbClr val="205C85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ttangolo arrotondato 8">
              <a:extLst>
                <a:ext uri="{FF2B5EF4-FFF2-40B4-BE49-F238E27FC236}">
                  <a16:creationId xmlns:a16="http://schemas.microsoft.com/office/drawing/2014/main" id="{B902D803-00D1-3A7B-8DF1-5EDB5277BD62}"/>
                </a:ext>
              </a:extLst>
            </p:cNvPr>
            <p:cNvSpPr/>
            <p:nvPr/>
          </p:nvSpPr>
          <p:spPr>
            <a:xfrm>
              <a:off x="664708" y="2179186"/>
              <a:ext cx="1392692" cy="354690"/>
            </a:xfrm>
            <a:prstGeom prst="roundRect">
              <a:avLst/>
            </a:prstGeom>
            <a:solidFill>
              <a:srgbClr val="205C85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ttangolo arrotondato 8">
              <a:extLst>
                <a:ext uri="{FF2B5EF4-FFF2-40B4-BE49-F238E27FC236}">
                  <a16:creationId xmlns:a16="http://schemas.microsoft.com/office/drawing/2014/main" id="{54418B62-80BE-DCF8-1EA7-977701ED36D0}"/>
                </a:ext>
              </a:extLst>
            </p:cNvPr>
            <p:cNvSpPr/>
            <p:nvPr/>
          </p:nvSpPr>
          <p:spPr>
            <a:xfrm>
              <a:off x="664708" y="1249948"/>
              <a:ext cx="1665657" cy="354690"/>
            </a:xfrm>
            <a:prstGeom prst="roundRect">
              <a:avLst/>
            </a:prstGeom>
            <a:solidFill>
              <a:srgbClr val="205C85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2E1E36-37CC-DBD0-2E97-8DD2B54246D7}"/>
              </a:ext>
            </a:extLst>
          </p:cNvPr>
          <p:cNvGrpSpPr>
            <a:grpSpLocks noChangeAspect="1"/>
          </p:cNvGrpSpPr>
          <p:nvPr/>
        </p:nvGrpSpPr>
        <p:grpSpPr>
          <a:xfrm>
            <a:off x="6569953" y="4635612"/>
            <a:ext cx="5424350" cy="1281632"/>
            <a:chOff x="7014285" y="4630817"/>
            <a:chExt cx="5074455" cy="1198961"/>
          </a:xfrm>
        </p:grpSpPr>
        <p:pic>
          <p:nvPicPr>
            <p:cNvPr id="11" name="Immagine 5">
              <a:extLst>
                <a:ext uri="{FF2B5EF4-FFF2-40B4-BE49-F238E27FC236}">
                  <a16:creationId xmlns:a16="http://schemas.microsoft.com/office/drawing/2014/main" id="{6B199B93-9560-B7AF-8A9C-2F90539498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0008" t="48500" r="3022"/>
            <a:stretch>
              <a:fillRect/>
            </a:stretch>
          </p:blipFill>
          <p:spPr>
            <a:xfrm>
              <a:off x="10427603" y="4667030"/>
              <a:ext cx="1661137" cy="1162748"/>
            </a:xfrm>
            <a:prstGeom prst="rect">
              <a:avLst/>
            </a:prstGeom>
          </p:spPr>
        </p:pic>
        <p:pic>
          <p:nvPicPr>
            <p:cNvPr id="24" name="Immagine 5">
              <a:extLst>
                <a:ext uri="{FF2B5EF4-FFF2-40B4-BE49-F238E27FC236}">
                  <a16:creationId xmlns:a16="http://schemas.microsoft.com/office/drawing/2014/main" id="{7241374A-6DC8-DFCC-BCB2-060B49E37B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9" r="180" b="53085"/>
            <a:stretch>
              <a:fillRect/>
            </a:stretch>
          </p:blipFill>
          <p:spPr>
            <a:xfrm>
              <a:off x="7014285" y="4667062"/>
              <a:ext cx="3508734" cy="1059225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DD454D-F00C-9B05-D61F-5BC3644417A0}"/>
                </a:ext>
              </a:extLst>
            </p:cNvPr>
            <p:cNvSpPr txBox="1"/>
            <p:nvPr/>
          </p:nvSpPr>
          <p:spPr>
            <a:xfrm>
              <a:off x="10460723" y="4630817"/>
              <a:ext cx="361252" cy="1399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en-GB" sz="1000">
                  <a:solidFill>
                    <a:schemeClr val="tx1"/>
                  </a:solidFill>
                </a:rPr>
                <a:t>c)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AEDC39A-E309-0F24-E302-5A4191F03941}"/>
                </a:ext>
              </a:extLst>
            </p:cNvPr>
            <p:cNvSpPr txBox="1"/>
            <p:nvPr/>
          </p:nvSpPr>
          <p:spPr>
            <a:xfrm>
              <a:off x="8799586" y="4630817"/>
              <a:ext cx="361252" cy="21113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en-GB" sz="1000">
                  <a:solidFill>
                    <a:schemeClr val="tx1"/>
                  </a:solidFill>
                </a:rPr>
                <a:t>b)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1D452AE-12A2-142C-179B-FEB3AC19BCCA}"/>
                </a:ext>
              </a:extLst>
            </p:cNvPr>
            <p:cNvSpPr txBox="1"/>
            <p:nvPr/>
          </p:nvSpPr>
          <p:spPr>
            <a:xfrm>
              <a:off x="7053239" y="4630817"/>
              <a:ext cx="361252" cy="21113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en-GB" sz="1000"/>
                <a:t>a</a:t>
              </a:r>
              <a:r>
                <a:rPr lang="en-GB" sz="1000">
                  <a:solidFill>
                    <a:schemeClr val="tx1"/>
                  </a:solidFill>
                </a:rPr>
                <a:t>)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CE7385FA-193D-CFC8-7CA7-EA52819A1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04" b="22587"/>
          <a:stretch>
            <a:fillRect/>
          </a:stretch>
        </p:blipFill>
        <p:spPr>
          <a:xfrm>
            <a:off x="7398564" y="480536"/>
            <a:ext cx="3859608" cy="366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4851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D3F02-C015-A37E-D514-3ED3D32A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uppo 51">
            <a:extLst>
              <a:ext uri="{FF2B5EF4-FFF2-40B4-BE49-F238E27FC236}">
                <a16:creationId xmlns:a16="http://schemas.microsoft.com/office/drawing/2014/main" id="{6555D168-669E-9EBE-FBC3-D2B286836991}"/>
              </a:ext>
            </a:extLst>
          </p:cNvPr>
          <p:cNvGrpSpPr/>
          <p:nvPr/>
        </p:nvGrpSpPr>
        <p:grpSpPr>
          <a:xfrm>
            <a:off x="6503529" y="289356"/>
            <a:ext cx="8237224" cy="5646592"/>
            <a:chOff x="658368" y="1308991"/>
            <a:chExt cx="7858130" cy="5099433"/>
          </a:xfrm>
        </p:grpSpPr>
        <p:sp>
          <p:nvSpPr>
            <p:cNvPr id="27" name="Round Same Side Corner Rectangle 17">
              <a:extLst>
                <a:ext uri="{FF2B5EF4-FFF2-40B4-BE49-F238E27FC236}">
                  <a16:creationId xmlns:a16="http://schemas.microsoft.com/office/drawing/2014/main" id="{360DD54D-E58C-EE24-B4D9-01B05886BED3}"/>
                </a:ext>
              </a:extLst>
            </p:cNvPr>
            <p:cNvSpPr/>
            <p:nvPr/>
          </p:nvSpPr>
          <p:spPr>
            <a:xfrm rot="16200000">
              <a:off x="2372907" y="2607658"/>
              <a:ext cx="4553776" cy="2488282"/>
            </a:xfrm>
            <a:prstGeom prst="roundRect">
              <a:avLst>
                <a:gd name="adj" fmla="val 401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FF84A5CE-8723-4D06-9F9C-E5384C119F13}"/>
                </a:ext>
              </a:extLst>
            </p:cNvPr>
            <p:cNvSpPr/>
            <p:nvPr/>
          </p:nvSpPr>
          <p:spPr>
            <a:xfrm>
              <a:off x="3575041" y="1585736"/>
              <a:ext cx="2171890" cy="2645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rgbClr val="2A3E5F"/>
                  </a:solidFill>
                  <a:cs typeface="Arial" panose="020B0604020202020204" pitchFamily="34" charset="0"/>
                </a:rPr>
                <a:t>Molecular Graphs</a:t>
              </a:r>
              <a:endParaRPr lang="en-US" sz="1200" baseline="30000">
                <a:solidFill>
                  <a:srgbClr val="2A3E5F"/>
                </a:solidFill>
                <a:cs typeface="Arial" panose="020B0604020202020204" pitchFamily="34" charset="0"/>
              </a:endParaRPr>
            </a:p>
          </p:txBody>
        </p:sp>
        <p:pic>
          <p:nvPicPr>
            <p:cNvPr id="35" name="Graphic 1660">
              <a:extLst>
                <a:ext uri="{FF2B5EF4-FFF2-40B4-BE49-F238E27FC236}">
                  <a16:creationId xmlns:a16="http://schemas.microsoft.com/office/drawing/2014/main" id="{D28A3400-E2BE-7BEF-25C1-87EC68E704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1980" t="12103" b="3114"/>
            <a:stretch>
              <a:fillRect/>
            </a:stretch>
          </p:blipFill>
          <p:spPr>
            <a:xfrm>
              <a:off x="898051" y="1585736"/>
              <a:ext cx="7618447" cy="4393087"/>
            </a:xfrm>
            <a:prstGeom prst="rect">
              <a:avLst/>
            </a:prstGeom>
          </p:spPr>
        </p:pic>
        <p:sp>
          <p:nvSpPr>
            <p:cNvPr id="49" name="CasellaDiTesto 48">
              <a:extLst>
                <a:ext uri="{FF2B5EF4-FFF2-40B4-BE49-F238E27FC236}">
                  <a16:creationId xmlns:a16="http://schemas.microsoft.com/office/drawing/2014/main" id="{1CA8B69C-F0D7-BA8D-DE8F-5930780D63A7}"/>
                </a:ext>
              </a:extLst>
            </p:cNvPr>
            <p:cNvSpPr txBox="1"/>
            <p:nvPr/>
          </p:nvSpPr>
          <p:spPr>
            <a:xfrm>
              <a:off x="8034528" y="3694176"/>
              <a:ext cx="0" cy="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endParaRPr lang="it-GB" sz="1600">
                <a:solidFill>
                  <a:schemeClr val="tx1"/>
                </a:solidFill>
              </a:endParaRPr>
            </a:p>
          </p:txBody>
        </p:sp>
        <p:sp>
          <p:nvSpPr>
            <p:cNvPr id="50" name="Rettangolo 49">
              <a:extLst>
                <a:ext uri="{FF2B5EF4-FFF2-40B4-BE49-F238E27FC236}">
                  <a16:creationId xmlns:a16="http://schemas.microsoft.com/office/drawing/2014/main" id="{11C023BA-A2E8-8C04-B876-74C5CC92B133}"/>
                </a:ext>
              </a:extLst>
            </p:cNvPr>
            <p:cNvSpPr/>
            <p:nvPr/>
          </p:nvSpPr>
          <p:spPr>
            <a:xfrm>
              <a:off x="658368" y="1414272"/>
              <a:ext cx="2645664" cy="4710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  <p:sp>
          <p:nvSpPr>
            <p:cNvPr id="51" name="Rettangolo 50">
              <a:extLst>
                <a:ext uri="{FF2B5EF4-FFF2-40B4-BE49-F238E27FC236}">
                  <a16:creationId xmlns:a16="http://schemas.microsoft.com/office/drawing/2014/main" id="{39BC6110-9A84-404F-B32C-85CA0A5F2E3C}"/>
                </a:ext>
              </a:extLst>
            </p:cNvPr>
            <p:cNvSpPr/>
            <p:nvPr/>
          </p:nvSpPr>
          <p:spPr>
            <a:xfrm>
              <a:off x="5893937" y="1308991"/>
              <a:ext cx="2622561" cy="50994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GB" sz="1600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084752-E135-6076-8279-C2284763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Results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6A75BE8-A145-C736-4637-C7293D2015F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/>
              <a:t>All data – 1M pretraining, optimised hyperparameters </a:t>
            </a:r>
          </a:p>
          <a:p>
            <a:r>
              <a:rPr lang="en-GB"/>
              <a:t>5-fold CV and external test set</a:t>
            </a:r>
          </a:p>
        </p:txBody>
      </p:sp>
      <p:sp>
        <p:nvSpPr>
          <p:cNvPr id="11" name="Round Same Side Corner Rectangle 30">
            <a:extLst>
              <a:ext uri="{FF2B5EF4-FFF2-40B4-BE49-F238E27FC236}">
                <a16:creationId xmlns:a16="http://schemas.microsoft.com/office/drawing/2014/main" id="{3A2E0F68-3A86-1B99-F188-0F26F994B510}"/>
              </a:ext>
            </a:extLst>
          </p:cNvPr>
          <p:cNvSpPr/>
          <p:nvPr/>
        </p:nvSpPr>
        <p:spPr>
          <a:xfrm rot="16200000">
            <a:off x="8581631" y="4533103"/>
            <a:ext cx="1188720" cy="2743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00000">
              <a:alpha val="3764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cs typeface="Arial" panose="020B0604020202020204" pitchFamily="34" charset="0"/>
              </a:rPr>
              <a:t>Hemolysis</a:t>
            </a:r>
            <a:endParaRPr lang="en-US" sz="1050" baseline="300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2" name="Round Same Side Corner Rectangle 30">
            <a:extLst>
              <a:ext uri="{FF2B5EF4-FFF2-40B4-BE49-F238E27FC236}">
                <a16:creationId xmlns:a16="http://schemas.microsoft.com/office/drawing/2014/main" id="{57F6E04D-E34F-CA51-FB7F-3E4F7C232DD1}"/>
              </a:ext>
            </a:extLst>
          </p:cNvPr>
          <p:cNvSpPr/>
          <p:nvPr/>
        </p:nvSpPr>
        <p:spPr>
          <a:xfrm rot="16200000">
            <a:off x="8581121" y="2946445"/>
            <a:ext cx="1188720" cy="2743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cs typeface="Arial" panose="020B0604020202020204" pitchFamily="34" charset="0"/>
              </a:rPr>
              <a:t>Solubility</a:t>
            </a:r>
            <a:endParaRPr lang="en-US" sz="1050" baseline="300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3" name="Round Same Side Corner Rectangle 30">
            <a:extLst>
              <a:ext uri="{FF2B5EF4-FFF2-40B4-BE49-F238E27FC236}">
                <a16:creationId xmlns:a16="http://schemas.microsoft.com/office/drawing/2014/main" id="{5F6B7891-5B51-9CC5-8A6A-76274B3AFCDC}"/>
              </a:ext>
            </a:extLst>
          </p:cNvPr>
          <p:cNvSpPr/>
          <p:nvPr/>
        </p:nvSpPr>
        <p:spPr>
          <a:xfrm rot="16200000">
            <a:off x="8555721" y="1359787"/>
            <a:ext cx="1188720" cy="2743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8D00">
              <a:alpha val="2352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/>
                </a:solidFill>
                <a:cs typeface="Arial" panose="020B0604020202020204" pitchFamily="34" charset="0"/>
              </a:rPr>
              <a:t>Synthetisability</a:t>
            </a:r>
            <a:endParaRPr lang="en-US" sz="1050" baseline="300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BA26C036-52CA-E659-E37F-810A2021F21F}"/>
              </a:ext>
            </a:extLst>
          </p:cNvPr>
          <p:cNvSpPr/>
          <p:nvPr/>
        </p:nvSpPr>
        <p:spPr>
          <a:xfrm>
            <a:off x="9260638" y="5703944"/>
            <a:ext cx="180000" cy="18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GB" sz="1600">
              <a:solidFill>
                <a:schemeClr val="bg1"/>
              </a:solidFill>
            </a:endParaRP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C5F1FD1C-DC0B-3317-3AD5-DB4C7A8BC3F6}"/>
              </a:ext>
            </a:extLst>
          </p:cNvPr>
          <p:cNvSpPr/>
          <p:nvPr/>
        </p:nvSpPr>
        <p:spPr>
          <a:xfrm>
            <a:off x="10781208" y="5709038"/>
            <a:ext cx="180000" cy="18000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GB" sz="1600">
              <a:solidFill>
                <a:schemeClr val="bg1"/>
              </a:solidFill>
            </a:endParaRP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B9DB3995-0F6A-F3DC-6EBB-892DB32305CE}"/>
              </a:ext>
            </a:extLst>
          </p:cNvPr>
          <p:cNvSpPr/>
          <p:nvPr/>
        </p:nvSpPr>
        <p:spPr>
          <a:xfrm>
            <a:off x="9260638" y="6068200"/>
            <a:ext cx="180000" cy="180000"/>
          </a:xfrm>
          <a:prstGeom prst="rect">
            <a:avLst/>
          </a:prstGeom>
          <a:pattFill prst="openDmnd">
            <a:fgClr>
              <a:schemeClr val="tx1">
                <a:lumMod val="85000"/>
                <a:lumOff val="15000"/>
              </a:schemeClr>
            </a:fgClr>
            <a:bgClr>
              <a:schemeClr val="bg2">
                <a:lumMod val="90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GB" sz="1600">
              <a:solidFill>
                <a:schemeClr val="bg1"/>
              </a:solidFill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4C4BB1A0-E0AB-E0B2-36E1-0DCEEB26AAB1}"/>
              </a:ext>
            </a:extLst>
          </p:cNvPr>
          <p:cNvSpPr/>
          <p:nvPr/>
        </p:nvSpPr>
        <p:spPr>
          <a:xfrm>
            <a:off x="10782371" y="6068200"/>
            <a:ext cx="180000" cy="180000"/>
          </a:xfrm>
          <a:prstGeom prst="rect">
            <a:avLst/>
          </a:prstGeom>
          <a:pattFill prst="pct20">
            <a:fgClr>
              <a:schemeClr val="tx1">
                <a:lumMod val="50000"/>
                <a:lumOff val="50000"/>
              </a:schemeClr>
            </a:fgClr>
            <a:bgClr>
              <a:schemeClr val="bg2">
                <a:lumMod val="90000"/>
              </a:schemeClr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GB" sz="1600">
              <a:solidFill>
                <a:schemeClr val="bg1"/>
              </a:solidFill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D004C05-9A62-BD37-F1B0-ED7166B336CD}"/>
              </a:ext>
            </a:extLst>
          </p:cNvPr>
          <p:cNvSpPr txBox="1"/>
          <p:nvPr/>
        </p:nvSpPr>
        <p:spPr>
          <a:xfrm>
            <a:off x="9532859" y="5703944"/>
            <a:ext cx="1694688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it-GB" sz="1000">
                <a:solidFill>
                  <a:schemeClr val="tx1"/>
                </a:solidFill>
              </a:rPr>
              <a:t>Single-Task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F26EB7E-BA14-DE96-7686-48D646D500C7}"/>
              </a:ext>
            </a:extLst>
          </p:cNvPr>
          <p:cNvSpPr txBox="1"/>
          <p:nvPr/>
        </p:nvSpPr>
        <p:spPr>
          <a:xfrm>
            <a:off x="11099717" y="5718292"/>
            <a:ext cx="1694688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it-GB" sz="1000">
                <a:solidFill>
                  <a:schemeClr val="tx1"/>
                </a:solidFill>
              </a:rPr>
              <a:t>Multi-Task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C047BBB-6614-EE40-F38A-F5F5CA5891F6}"/>
              </a:ext>
            </a:extLst>
          </p:cNvPr>
          <p:cNvSpPr txBox="1"/>
          <p:nvPr/>
        </p:nvSpPr>
        <p:spPr>
          <a:xfrm>
            <a:off x="11099717" y="6002020"/>
            <a:ext cx="1694688" cy="33440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it-GB" sz="1000"/>
              <a:t>Pretrained,</a:t>
            </a:r>
          </a:p>
          <a:p>
            <a:pPr algn="l">
              <a:lnSpc>
                <a:spcPct val="105000"/>
              </a:lnSpc>
            </a:pPr>
            <a:r>
              <a:rPr lang="it-GB" sz="1000"/>
              <a:t>Frozen encoder</a:t>
            </a:r>
            <a:endParaRPr lang="it-GB" sz="1000">
              <a:solidFill>
                <a:schemeClr val="tx1"/>
              </a:solidFill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1B320F1-0F43-BD85-A15F-D5BA7638C667}"/>
              </a:ext>
            </a:extLst>
          </p:cNvPr>
          <p:cNvSpPr txBox="1"/>
          <p:nvPr/>
        </p:nvSpPr>
        <p:spPr>
          <a:xfrm>
            <a:off x="9532859" y="6002484"/>
            <a:ext cx="1694688" cy="3727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it-GB" sz="1000"/>
              <a:t>Pretrained, </a:t>
            </a:r>
          </a:p>
          <a:p>
            <a:pPr algn="l">
              <a:lnSpc>
                <a:spcPct val="105000"/>
              </a:lnSpc>
            </a:pPr>
            <a:r>
              <a:rPr lang="it-GB" sz="1000"/>
              <a:t>Trainable encoder</a:t>
            </a:r>
            <a:endParaRPr lang="it-GB" sz="1000">
              <a:solidFill>
                <a:schemeClr val="tx1"/>
              </a:solidFill>
            </a:endParaRPr>
          </a:p>
        </p:txBody>
      </p:sp>
      <p:graphicFrame>
        <p:nvGraphicFramePr>
          <p:cNvPr id="53" name="Tabella 52">
            <a:extLst>
              <a:ext uri="{FF2B5EF4-FFF2-40B4-BE49-F238E27FC236}">
                <a16:creationId xmlns:a16="http://schemas.microsoft.com/office/drawing/2014/main" id="{47D80CDC-67BB-C85F-E090-B1634273C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307075"/>
              </p:ext>
            </p:extLst>
          </p:nvPr>
        </p:nvGraphicFramePr>
        <p:xfrm>
          <a:off x="211616" y="1689342"/>
          <a:ext cx="8534535" cy="4338838"/>
        </p:xfrm>
        <a:graphic>
          <a:graphicData uri="http://schemas.openxmlformats.org/drawingml/2006/table">
            <a:tbl>
              <a:tblPr>
                <a:noFill/>
                <a:tableStyleId>{69012ECD-51FC-41F1-AA8D-1B2483CD663E}</a:tableStyleId>
              </a:tblPr>
              <a:tblGrid>
                <a:gridCol w="1432135">
                  <a:extLst>
                    <a:ext uri="{9D8B030D-6E8A-4147-A177-3AD203B41FA5}">
                      <a16:colId xmlns:a16="http://schemas.microsoft.com/office/drawing/2014/main" val="2612533112"/>
                    </a:ext>
                  </a:extLst>
                </a:gridCol>
                <a:gridCol w="873344">
                  <a:extLst>
                    <a:ext uri="{9D8B030D-6E8A-4147-A177-3AD203B41FA5}">
                      <a16:colId xmlns:a16="http://schemas.microsoft.com/office/drawing/2014/main" val="3417960522"/>
                    </a:ext>
                  </a:extLst>
                </a:gridCol>
                <a:gridCol w="778632">
                  <a:extLst>
                    <a:ext uri="{9D8B030D-6E8A-4147-A177-3AD203B41FA5}">
                      <a16:colId xmlns:a16="http://schemas.microsoft.com/office/drawing/2014/main" val="4259141175"/>
                    </a:ext>
                  </a:extLst>
                </a:gridCol>
                <a:gridCol w="778632">
                  <a:extLst>
                    <a:ext uri="{9D8B030D-6E8A-4147-A177-3AD203B41FA5}">
                      <a16:colId xmlns:a16="http://schemas.microsoft.com/office/drawing/2014/main" val="568898233"/>
                    </a:ext>
                  </a:extLst>
                </a:gridCol>
                <a:gridCol w="778632">
                  <a:extLst>
                    <a:ext uri="{9D8B030D-6E8A-4147-A177-3AD203B41FA5}">
                      <a16:colId xmlns:a16="http://schemas.microsoft.com/office/drawing/2014/main" val="327228549"/>
                    </a:ext>
                  </a:extLst>
                </a:gridCol>
                <a:gridCol w="778632">
                  <a:extLst>
                    <a:ext uri="{9D8B030D-6E8A-4147-A177-3AD203B41FA5}">
                      <a16:colId xmlns:a16="http://schemas.microsoft.com/office/drawing/2014/main" val="421362731"/>
                    </a:ext>
                  </a:extLst>
                </a:gridCol>
                <a:gridCol w="778632">
                  <a:extLst>
                    <a:ext uri="{9D8B030D-6E8A-4147-A177-3AD203B41FA5}">
                      <a16:colId xmlns:a16="http://schemas.microsoft.com/office/drawing/2014/main" val="559369803"/>
                    </a:ext>
                  </a:extLst>
                </a:gridCol>
                <a:gridCol w="778632">
                  <a:extLst>
                    <a:ext uri="{9D8B030D-6E8A-4147-A177-3AD203B41FA5}">
                      <a16:colId xmlns:a16="http://schemas.microsoft.com/office/drawing/2014/main" val="1627335325"/>
                    </a:ext>
                  </a:extLst>
                </a:gridCol>
                <a:gridCol w="778632">
                  <a:extLst>
                    <a:ext uri="{9D8B030D-6E8A-4147-A177-3AD203B41FA5}">
                      <a16:colId xmlns:a16="http://schemas.microsoft.com/office/drawing/2014/main" val="4046103117"/>
                    </a:ext>
                  </a:extLst>
                </a:gridCol>
                <a:gridCol w="778632">
                  <a:extLst>
                    <a:ext uri="{9D8B030D-6E8A-4147-A177-3AD203B41FA5}">
                      <a16:colId xmlns:a16="http://schemas.microsoft.com/office/drawing/2014/main" val="1912658822"/>
                    </a:ext>
                  </a:extLst>
                </a:gridCol>
              </a:tblGrid>
              <a:tr h="53353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Model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Hemolysis</a:t>
                      </a: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Solubility</a:t>
                      </a: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Synthetisability</a:t>
                      </a: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7305"/>
                  </a:ext>
                </a:extLst>
              </a:tr>
              <a:tr h="533532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MAE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Pearson </a:t>
                      </a:r>
                    </a:p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r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Spearman r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MAE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Pearson</a:t>
                      </a:r>
                    </a:p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 r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Spearman r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MAE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Pearson </a:t>
                      </a:r>
                    </a:p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r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Spearman r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9643186"/>
                  </a:ext>
                </a:extLst>
              </a:tr>
              <a:tr h="5688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GB" sz="1200" b="0" u="none" strike="noStrike">
                          <a:effectLst/>
                        </a:rPr>
                        <a:t>Multi-head Pretrained, Frozen Encoder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75.0±3.2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0.67±0.04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0.63±0.02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0.31±0.01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0.95±0.01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0.94±0.01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18.5±1.15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0.41±0.05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0.29±0.04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667741"/>
                  </a:ext>
                </a:extLst>
              </a:tr>
              <a:tr h="5688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GB" sz="1200" b="0" u="none" strike="noStrike">
                          <a:effectLst/>
                        </a:rPr>
                        <a:t>Multi-head Pretrained, Trainable Encoder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72.3±2.5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0.68±0.05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0.63±0.0</a:t>
                      </a:r>
                      <a:r>
                        <a:rPr lang="it-GB" sz="1200" u="none" strike="noStrike">
                          <a:effectLst/>
                        </a:rPr>
                        <a:t>3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0.24±0.01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0.97±0.01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1" u="none" strike="noStrike">
                          <a:effectLst/>
                        </a:rPr>
                        <a:t>0.96±0.01</a:t>
                      </a:r>
                      <a:endParaRPr lang="it-GB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19.7±0.9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0.35±0.03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0.26±0.03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43381"/>
                  </a:ext>
                </a:extLst>
              </a:tr>
              <a:tr h="5335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GB" sz="1200" b="0" u="none" strike="noStrike">
                          <a:effectLst/>
                        </a:rPr>
                        <a:t>Multi-head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102.5±1.9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0.39±0.03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0.34±0.03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0.43±0.02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0.89±0.01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0.89±0.02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18.8±0.9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0.33±0.09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0.26±0.06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3257611"/>
                  </a:ext>
                </a:extLst>
              </a:tr>
              <a:tr h="5335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GB" sz="1200" b="0" u="none" strike="noStrike">
                          <a:effectLst/>
                        </a:rPr>
                        <a:t>Single-task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106.5±1.2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0.17±0.21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0.18±0.19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0.48±0.01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0.87±0.01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0.87±0.03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19.5±1.1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0.24±0.05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0.20±0.03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507246"/>
                  </a:ext>
                </a:extLst>
              </a:tr>
              <a:tr h="5335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GB" sz="1200" b="0" u="none" strike="noStrike">
                          <a:effectLst/>
                        </a:rPr>
                        <a:t>Chemelon, </a:t>
                      </a:r>
                    </a:p>
                    <a:p>
                      <a:pPr algn="l" fontAlgn="ctr">
                        <a:buNone/>
                      </a:pPr>
                      <a:r>
                        <a:rPr lang="it-GB" sz="1200" b="0" u="none" strike="noStrike">
                          <a:effectLst/>
                        </a:rPr>
                        <a:t>Multi-head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sng" strike="noStrike">
                          <a:effectLst/>
                        </a:rPr>
                        <a:t>74.2±1.6</a:t>
                      </a:r>
                      <a:endParaRPr lang="it-GB" sz="12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sng" strike="noStrike">
                          <a:effectLst/>
                        </a:rPr>
                        <a:t>0.60±0.06</a:t>
                      </a:r>
                      <a:endParaRPr lang="it-GB" sz="12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sng" strike="noStrike">
                          <a:effectLst/>
                        </a:rPr>
                        <a:t>0.59±0.04</a:t>
                      </a:r>
                      <a:endParaRPr lang="it-GB" sz="12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0" u="sng" strike="noStrike">
                          <a:effectLst/>
                        </a:rPr>
                        <a:t>0.26±0.01</a:t>
                      </a:r>
                      <a:endParaRPr lang="it-GB" sz="12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0" u="sng" strike="noStrike">
                          <a:effectLst/>
                        </a:rPr>
                        <a:t>0.96±0.01</a:t>
                      </a:r>
                      <a:endParaRPr lang="it-GB" sz="12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b="0" u="sng" strike="noStrike">
                          <a:effectLst/>
                        </a:rPr>
                        <a:t>0.96±0.03</a:t>
                      </a:r>
                      <a:endParaRPr lang="it-GB" sz="12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sng" strike="noStrike">
                          <a:effectLst/>
                        </a:rPr>
                        <a:t>18.1±1.1</a:t>
                      </a:r>
                      <a:endParaRPr lang="it-GB" sz="12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sng" strike="noStrike">
                          <a:effectLst/>
                        </a:rPr>
                        <a:t>0.44±0.05</a:t>
                      </a:r>
                      <a:endParaRPr lang="it-GB" sz="12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254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sng" strike="noStrike">
                          <a:effectLst/>
                        </a:rPr>
                        <a:t>0.34±0.06</a:t>
                      </a:r>
                      <a:endParaRPr lang="it-GB" sz="1200" b="0" i="0" u="sng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254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701"/>
                  </a:ext>
                </a:extLst>
              </a:tr>
              <a:tr h="5335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GB" sz="1200" b="0" u="none" strike="noStrike">
                          <a:effectLst/>
                        </a:rPr>
                        <a:t>Chemelon, </a:t>
                      </a:r>
                    </a:p>
                    <a:p>
                      <a:pPr algn="l" fontAlgn="ctr">
                        <a:buNone/>
                      </a:pPr>
                      <a:r>
                        <a:rPr lang="it-GB" sz="1200" b="0" u="none" strike="noStrike">
                          <a:effectLst/>
                        </a:rPr>
                        <a:t>Single-task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115.3±4.8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0.21±0.04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0.15±0.06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1.49±0.08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0.42±0.06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0.58±0.04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19.5±1.1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0.26±0.06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GB" sz="1200" u="none" strike="noStrike">
                          <a:effectLst/>
                        </a:rPr>
                        <a:t>0.22±0.05</a:t>
                      </a:r>
                      <a:endParaRPr lang="it-GB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227" marR="8227" marT="8227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1663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9617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AA384AA-64B4-11B0-952B-2502E05AA583}"/>
              </a:ext>
            </a:extLst>
          </p:cNvPr>
          <p:cNvSpPr/>
          <p:nvPr/>
        </p:nvSpPr>
        <p:spPr>
          <a:xfrm>
            <a:off x="4629949" y="1025594"/>
            <a:ext cx="3266989" cy="200437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E9B956A-3785-F38C-4AC5-24191841A89E}"/>
              </a:ext>
            </a:extLst>
          </p:cNvPr>
          <p:cNvSpPr/>
          <p:nvPr/>
        </p:nvSpPr>
        <p:spPr>
          <a:xfrm>
            <a:off x="8649300" y="977850"/>
            <a:ext cx="3312118" cy="205211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79A35BC-383B-FA67-2184-918FCB95AF3F}"/>
              </a:ext>
            </a:extLst>
          </p:cNvPr>
          <p:cNvSpPr/>
          <p:nvPr/>
        </p:nvSpPr>
        <p:spPr>
          <a:xfrm>
            <a:off x="139241" y="1057492"/>
            <a:ext cx="3720832" cy="186386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2121DD3-5416-3C70-1A12-4749F88A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GB"/>
              <a:t>Prospective study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83DBFB-0982-B481-6531-4DE9C010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2B7-F8E8-4065-A21D-90A8A970CBC5}" type="datetime1">
              <a:rPr lang="en-GB" smtClean="0"/>
              <a:t>11/09/2026</a:t>
            </a:fld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B483EE-F1CE-D1E9-ED4B-87AB5CF1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11</a:t>
            </a:fld>
            <a:endParaRPr lang="en-GB"/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C281A884-67DF-1B16-5434-735723D54BA8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it-GB"/>
              <a:t>Workflow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3F78071-57B4-826D-6F2B-857DC789FE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729" y="3470697"/>
            <a:ext cx="11408172" cy="26777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9F64DB-66B4-97C7-2CB2-E82938A1FAAE}"/>
              </a:ext>
            </a:extLst>
          </p:cNvPr>
          <p:cNvSpPr txBox="1"/>
          <p:nvPr/>
        </p:nvSpPr>
        <p:spPr>
          <a:xfrm>
            <a:off x="235860" y="1173944"/>
            <a:ext cx="3795300" cy="172287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GB" sz="1400" b="1"/>
              <a:t>Baseline</a:t>
            </a:r>
            <a:endParaRPr lang="en-GB" sz="1400"/>
          </a:p>
          <a:p>
            <a:r>
              <a:rPr lang="en-GB" sz="1400"/>
              <a:t>8 peptides (from literature)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4 - low synthesisability (in-flow synthesis)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4 - high synthesisability</a:t>
            </a:r>
          </a:p>
          <a:p>
            <a:endParaRPr lang="en-GB" sz="1400"/>
          </a:p>
          <a:p>
            <a:endParaRPr lang="en-GB" sz="1400"/>
          </a:p>
          <a:p>
            <a:pPr algn="ctr"/>
            <a:r>
              <a:rPr lang="en-GB" sz="1400"/>
              <a:t>Synthesised and tested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4EA5E5-DD58-EA2F-DD20-18279FDC2A4D}"/>
              </a:ext>
            </a:extLst>
          </p:cNvPr>
          <p:cNvSpPr txBox="1"/>
          <p:nvPr/>
        </p:nvSpPr>
        <p:spPr>
          <a:xfrm>
            <a:off x="4480951" y="1169081"/>
            <a:ext cx="3561805" cy="167130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GB" sz="1400" b="1"/>
              <a:t>Mutations (90 K each, random/sliced)</a:t>
            </a:r>
            <a:endParaRPr lang="en-GB" sz="1400"/>
          </a:p>
          <a:p>
            <a:pPr algn="ctr"/>
            <a:r>
              <a:rPr lang="en-GB" sz="1400"/>
              <a:t>5 peptides with a purity &lt; 70%</a:t>
            </a:r>
          </a:p>
          <a:p>
            <a:pPr algn="ctr"/>
            <a:endParaRPr lang="en-GB" sz="1400"/>
          </a:p>
          <a:p>
            <a:pPr algn="ctr"/>
            <a:endParaRPr lang="en-GB" sz="1400"/>
          </a:p>
          <a:p>
            <a:pPr algn="ctr"/>
            <a:endParaRPr lang="en-GB" sz="1400"/>
          </a:p>
          <a:p>
            <a:pPr algn="ctr"/>
            <a:endParaRPr lang="en-GB" sz="1400"/>
          </a:p>
          <a:p>
            <a:pPr algn="ctr"/>
            <a:r>
              <a:rPr lang="en-GB" sz="1400"/>
              <a:t>Sequence modifications introduced,</a:t>
            </a:r>
          </a:p>
          <a:p>
            <a:pPr algn="ctr"/>
            <a:r>
              <a:rPr lang="en-GB" sz="1400"/>
              <a:t>last 5 C-terminal residues were retained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B5FC2C-F453-5D9A-2FDE-525D74CE8F87}"/>
              </a:ext>
            </a:extLst>
          </p:cNvPr>
          <p:cNvSpPr txBox="1"/>
          <p:nvPr/>
        </p:nvSpPr>
        <p:spPr>
          <a:xfrm>
            <a:off x="8430283" y="1132774"/>
            <a:ext cx="3561805" cy="11669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GB" sz="1400" b="1">
                <a:solidFill>
                  <a:schemeClr val="tx1"/>
                </a:solidFill>
              </a:rPr>
              <a:t>Predictions</a:t>
            </a:r>
          </a:p>
          <a:p>
            <a:pPr algn="ctr">
              <a:lnSpc>
                <a:spcPct val="105000"/>
              </a:lnSpc>
            </a:pPr>
            <a:r>
              <a:rPr lang="en-GB">
                <a:solidFill>
                  <a:schemeClr val="tx1"/>
                </a:solidFill>
              </a:rPr>
              <a:t>∆</a:t>
            </a:r>
            <a:r>
              <a:rPr lang="en-GB" sz="1400">
                <a:solidFill>
                  <a:schemeClr val="tx1"/>
                </a:solidFill>
              </a:rPr>
              <a:t> mutated – original </a:t>
            </a:r>
          </a:p>
          <a:p>
            <a:pPr algn="l">
              <a:lnSpc>
                <a:spcPct val="105000"/>
              </a:lnSpc>
            </a:pPr>
            <a:endParaRPr lang="en-GB" sz="1400">
              <a:solidFill>
                <a:schemeClr val="tx1"/>
              </a:solidFill>
            </a:endParaRPr>
          </a:p>
          <a:p>
            <a:pPr algn="l">
              <a:lnSpc>
                <a:spcPct val="105000"/>
              </a:lnSpc>
            </a:pPr>
            <a:endParaRPr lang="en-GB" sz="1400">
              <a:solidFill>
                <a:schemeClr val="tx1"/>
              </a:solidFill>
            </a:endParaRPr>
          </a:p>
          <a:p>
            <a:pPr algn="l">
              <a:lnSpc>
                <a:spcPct val="105000"/>
              </a:lnSpc>
            </a:pPr>
            <a:endParaRPr lang="en-GB" sz="1400">
              <a:solidFill>
                <a:schemeClr val="tx1"/>
              </a:solidFill>
            </a:endParaRPr>
          </a:p>
          <a:p>
            <a:pPr algn="ctr">
              <a:lnSpc>
                <a:spcPct val="105000"/>
              </a:lnSpc>
            </a:pPr>
            <a:endParaRPr lang="en-GB" sz="1400">
              <a:solidFill>
                <a:schemeClr val="tx1"/>
              </a:solidFill>
            </a:endParaRPr>
          </a:p>
          <a:p>
            <a:pPr algn="ctr">
              <a:lnSpc>
                <a:spcPct val="105000"/>
              </a:lnSpc>
            </a:pPr>
            <a:r>
              <a:rPr lang="en-GB" sz="1400">
                <a:solidFill>
                  <a:schemeClr val="tx1"/>
                </a:solidFill>
              </a:rPr>
              <a:t>Synthetised and tested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5DD331-5C67-E6B5-BFAB-FE1B3456ED44}"/>
              </a:ext>
            </a:extLst>
          </p:cNvPr>
          <p:cNvCxnSpPr>
            <a:cxnSpLocks/>
          </p:cNvCxnSpPr>
          <p:nvPr/>
        </p:nvCxnSpPr>
        <p:spPr>
          <a:xfrm>
            <a:off x="2148058" y="2122966"/>
            <a:ext cx="0" cy="22073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B1E0D9D-DE34-3285-7CA5-CF88B4C6EA81}"/>
              </a:ext>
            </a:extLst>
          </p:cNvPr>
          <p:cNvCxnSpPr>
            <a:cxnSpLocks/>
          </p:cNvCxnSpPr>
          <p:nvPr/>
        </p:nvCxnSpPr>
        <p:spPr>
          <a:xfrm>
            <a:off x="6219321" y="1849780"/>
            <a:ext cx="15057" cy="43032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E43FE47-EC75-56C3-789B-72D70DA584E8}"/>
              </a:ext>
            </a:extLst>
          </p:cNvPr>
          <p:cNvCxnSpPr>
            <a:cxnSpLocks/>
          </p:cNvCxnSpPr>
          <p:nvPr/>
        </p:nvCxnSpPr>
        <p:spPr>
          <a:xfrm flipH="1">
            <a:off x="9856789" y="1695892"/>
            <a:ext cx="265612" cy="190079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12BE33-1315-988A-EE6A-F4CD09E5594B}"/>
              </a:ext>
            </a:extLst>
          </p:cNvPr>
          <p:cNvCxnSpPr>
            <a:cxnSpLocks/>
          </p:cNvCxnSpPr>
          <p:nvPr/>
        </p:nvCxnSpPr>
        <p:spPr>
          <a:xfrm>
            <a:off x="10265529" y="1690270"/>
            <a:ext cx="265611" cy="193232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8" name="Graphic 27" descr="Badge Cross outline">
            <a:extLst>
              <a:ext uri="{FF2B5EF4-FFF2-40B4-BE49-F238E27FC236}">
                <a16:creationId xmlns:a16="http://schemas.microsoft.com/office/drawing/2014/main" id="{D684D3C9-85AE-A7E6-6347-5E3517CAE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8959" y="1849780"/>
            <a:ext cx="309911" cy="309911"/>
          </a:xfrm>
          <a:prstGeom prst="rect">
            <a:avLst/>
          </a:prstGeom>
        </p:spPr>
      </p:pic>
      <p:pic>
        <p:nvPicPr>
          <p:cNvPr id="30" name="Graphic 29" descr="Badge Tick1 outline">
            <a:extLst>
              <a:ext uri="{FF2B5EF4-FFF2-40B4-BE49-F238E27FC236}">
                <a16:creationId xmlns:a16="http://schemas.microsoft.com/office/drawing/2014/main" id="{CE71843F-47EA-949A-E941-5FA40FCDA4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17651" y="1839733"/>
            <a:ext cx="330004" cy="330004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4121B12-3032-1A8C-0E2F-AA6B12DEEF1B}"/>
              </a:ext>
            </a:extLst>
          </p:cNvPr>
          <p:cNvCxnSpPr>
            <a:cxnSpLocks/>
          </p:cNvCxnSpPr>
          <p:nvPr/>
        </p:nvCxnSpPr>
        <p:spPr>
          <a:xfrm>
            <a:off x="10209805" y="2245095"/>
            <a:ext cx="0" cy="220734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8466037-955C-9A10-4470-05A2A0C57D46}"/>
              </a:ext>
            </a:extLst>
          </p:cNvPr>
          <p:cNvSpPr txBox="1"/>
          <p:nvPr/>
        </p:nvSpPr>
        <p:spPr>
          <a:xfrm>
            <a:off x="8733427" y="1949022"/>
            <a:ext cx="914400" cy="51680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GB" sz="1400" b="1">
                <a:solidFill>
                  <a:schemeClr val="tx1"/>
                </a:solidFill>
              </a:rPr>
              <a:t>Top (2)</a:t>
            </a:r>
          </a:p>
          <a:p>
            <a:pPr algn="ctr">
              <a:lnSpc>
                <a:spcPct val="105000"/>
              </a:lnSpc>
            </a:pPr>
            <a:r>
              <a:rPr lang="en-GB" sz="1400"/>
              <a:t>improvement</a:t>
            </a: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355254-3EEE-C417-9148-E7E811A84B6C}"/>
              </a:ext>
            </a:extLst>
          </p:cNvPr>
          <p:cNvSpPr txBox="1"/>
          <p:nvPr/>
        </p:nvSpPr>
        <p:spPr>
          <a:xfrm>
            <a:off x="10613258" y="1949022"/>
            <a:ext cx="1233643" cy="49487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GB" sz="1400" b="1">
                <a:solidFill>
                  <a:schemeClr val="tx1"/>
                </a:solidFill>
              </a:rPr>
              <a:t>Bottom</a:t>
            </a:r>
          </a:p>
          <a:p>
            <a:pPr algn="ctr">
              <a:lnSpc>
                <a:spcPct val="105000"/>
              </a:lnSpc>
            </a:pPr>
            <a:r>
              <a:rPr lang="en-GB" sz="1400"/>
              <a:t>Negative control</a:t>
            </a:r>
            <a:endParaRPr lang="en-GB" sz="1400">
              <a:solidFill>
                <a:schemeClr val="tx1"/>
              </a:solidFill>
            </a:endParaRP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6236539B-B90B-E891-685F-290C6A3BF7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3414" y="1760793"/>
            <a:ext cx="322236" cy="455334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66A0F0AB-3A6F-0F87-5BF0-BDBF185364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3779" y="1775277"/>
            <a:ext cx="322236" cy="455334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EC811E45-E1F2-64F0-B27A-783F14832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93327" y="1775277"/>
            <a:ext cx="322236" cy="455334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C33C7E1-9A61-0EE2-18FC-8D3541AD2F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3692" y="1789761"/>
            <a:ext cx="322236" cy="455334"/>
          </a:xfrm>
          <a:prstGeom prst="rect">
            <a:avLst/>
          </a:prstGeom>
        </p:spPr>
      </p:pic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FC38C84-B0DB-1BAC-7A50-A10291733246}"/>
              </a:ext>
            </a:extLst>
          </p:cNvPr>
          <p:cNvSpPr/>
          <p:nvPr/>
        </p:nvSpPr>
        <p:spPr>
          <a:xfrm>
            <a:off x="139240" y="3282058"/>
            <a:ext cx="11852848" cy="3003032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bg1"/>
              </a:solidFill>
            </a:endParaRPr>
          </a:p>
        </p:txBody>
      </p:sp>
      <p:pic>
        <p:nvPicPr>
          <p:cNvPr id="3" name="Graphic 47">
            <a:extLst>
              <a:ext uri="{FF2B5EF4-FFF2-40B4-BE49-F238E27FC236}">
                <a16:creationId xmlns:a16="http://schemas.microsoft.com/office/drawing/2014/main" id="{CEB916F2-5E47-C225-C066-204298B29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62594" y="4563674"/>
            <a:ext cx="161118" cy="22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8956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Tabella 53">
            <a:extLst>
              <a:ext uri="{FF2B5EF4-FFF2-40B4-BE49-F238E27FC236}">
                <a16:creationId xmlns:a16="http://schemas.microsoft.com/office/drawing/2014/main" id="{55D10E63-0EF6-0AE9-C75B-278D0314D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185355"/>
              </p:ext>
            </p:extLst>
          </p:nvPr>
        </p:nvGraphicFramePr>
        <p:xfrm>
          <a:off x="141875" y="1104021"/>
          <a:ext cx="7526737" cy="5205223"/>
        </p:xfrm>
        <a:graphic>
          <a:graphicData uri="http://schemas.openxmlformats.org/drawingml/2006/table">
            <a:tbl>
              <a:tblPr/>
              <a:tblGrid>
                <a:gridCol w="1111455">
                  <a:extLst>
                    <a:ext uri="{9D8B030D-6E8A-4147-A177-3AD203B41FA5}">
                      <a16:colId xmlns:a16="http://schemas.microsoft.com/office/drawing/2014/main" val="1976574170"/>
                    </a:ext>
                  </a:extLst>
                </a:gridCol>
                <a:gridCol w="3340608">
                  <a:extLst>
                    <a:ext uri="{9D8B030D-6E8A-4147-A177-3AD203B41FA5}">
                      <a16:colId xmlns:a16="http://schemas.microsoft.com/office/drawing/2014/main" val="992880048"/>
                    </a:ext>
                  </a:extLst>
                </a:gridCol>
                <a:gridCol w="776865">
                  <a:extLst>
                    <a:ext uri="{9D8B030D-6E8A-4147-A177-3AD203B41FA5}">
                      <a16:colId xmlns:a16="http://schemas.microsoft.com/office/drawing/2014/main" val="2830023047"/>
                    </a:ext>
                  </a:extLst>
                </a:gridCol>
                <a:gridCol w="951265">
                  <a:extLst>
                    <a:ext uri="{9D8B030D-6E8A-4147-A177-3AD203B41FA5}">
                      <a16:colId xmlns:a16="http://schemas.microsoft.com/office/drawing/2014/main" val="402264871"/>
                    </a:ext>
                  </a:extLst>
                </a:gridCol>
                <a:gridCol w="693092">
                  <a:extLst>
                    <a:ext uri="{9D8B030D-6E8A-4147-A177-3AD203B41FA5}">
                      <a16:colId xmlns:a16="http://schemas.microsoft.com/office/drawing/2014/main" val="2520979114"/>
                    </a:ext>
                  </a:extLst>
                </a:gridCol>
                <a:gridCol w="653452">
                  <a:extLst>
                    <a:ext uri="{9D8B030D-6E8A-4147-A177-3AD203B41FA5}">
                      <a16:colId xmlns:a16="http://schemas.microsoft.com/office/drawing/2014/main" val="3203091062"/>
                    </a:ext>
                  </a:extLst>
                </a:gridCol>
              </a:tblGrid>
              <a:tr h="268708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Name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Sequence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Category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1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MultiPep</a:t>
                      </a:r>
                      <a:b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(Purity %)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Δ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en-US" sz="11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RT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(min)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132691"/>
                  </a:ext>
                </a:extLst>
              </a:tr>
              <a:tr h="207541">
                <a:tc rowSpan="4"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Barstar[75-90]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FREAKAEGCDITIILS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Original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58.8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98958"/>
                        </a:lnSpc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00478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K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RY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KA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GCD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D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TIILS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 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73.2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14.4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5.5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113965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QQR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CD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TIILS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71.0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12.3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6.1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465235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[</a:t>
                      </a:r>
                      <a:r>
                        <a:rPr lang="en-US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Aib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]FS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KA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[</a:t>
                      </a:r>
                      <a:r>
                        <a:rPr lang="en-US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Nle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GC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V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ITIILS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Bottom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52.0</a:t>
                      </a:r>
                      <a:r>
                        <a:rPr lang="en-US" sz="1100" b="0" i="0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-6.6</a:t>
                      </a:r>
                      <a:endParaRPr lang="en-US" sz="1100" b="0" i="0" dirty="0"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-13.8</a:t>
                      </a:r>
                      <a:endParaRPr lang="en-US" sz="1100" b="0" i="0" dirty="0">
                        <a:solidFill>
                          <a:srgbClr val="C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01918"/>
                  </a:ext>
                </a:extLst>
              </a:tr>
              <a:tr h="207541">
                <a:tc rowSpan="4"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GHRH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YADAIFTNSYRKVLGQLSARKLLQDILSA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Original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54.4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98958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034324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T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ADA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FTNSYRK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K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LGQ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[</a:t>
                      </a:r>
                      <a:r>
                        <a:rPr lang="en-US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Aib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SARKL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QDILSA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 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56.1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1.7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5.6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080574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S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K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AH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NSYRKVLGQLSARKLLQDILSA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76.5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22.1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8.4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101175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GB" sz="11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YADAIF</a:t>
                      </a:r>
                      <a:r>
                        <a:rPr lang="en-GB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W</a:t>
                      </a:r>
                      <a:r>
                        <a:rPr lang="en-GB" sz="11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NSYRKVL</a:t>
                      </a:r>
                      <a:r>
                        <a:rPr lang="en-GB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W[</a:t>
                      </a:r>
                      <a:r>
                        <a:rPr lang="en-GB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Nle</a:t>
                      </a:r>
                      <a:r>
                        <a:rPr lang="en-GB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</a:t>
                      </a:r>
                      <a:r>
                        <a:rPr lang="en-GB" sz="11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LS</a:t>
                      </a:r>
                      <a:r>
                        <a:rPr lang="en-GB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E</a:t>
                      </a:r>
                      <a:r>
                        <a:rPr lang="en-GB" sz="11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en-GB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F</a:t>
                      </a:r>
                      <a:r>
                        <a:rPr lang="en-GB" sz="1100" b="0" i="0" u="none" strike="noStrike">
                          <a:solidFill>
                            <a:srgbClr val="333333"/>
                          </a:solidFill>
                          <a:effectLst/>
                          <a:latin typeface="+mn-lt"/>
                        </a:rPr>
                        <a:t>LLQDILSA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Bottom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664177"/>
                  </a:ext>
                </a:extLst>
              </a:tr>
              <a:tr h="207541">
                <a:tc rowSpan="4"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GLP1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HAEGTFTSDVSSYLEGQAAKEFIAWLVKGR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Original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70.4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98958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808850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K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GTFTSDVSSY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EGQ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DY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KE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K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IAWLVKGR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81.5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11.1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6.5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729399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AEGT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TSD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SSYLEGQ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HY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KEFIAWLVKGR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72.3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1.9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7.3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895138"/>
                  </a:ext>
                </a:extLst>
              </a:tr>
              <a:tr h="278923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[</a:t>
                      </a:r>
                      <a:r>
                        <a:rPr lang="en-US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Aib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AEG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A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FTS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L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VSSYLEG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[</a:t>
                      </a:r>
                      <a:r>
                        <a:rPr lang="en-US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Nle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AAK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A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FIAWLVKGR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Bottom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69.3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-1.1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11.3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213357"/>
                  </a:ext>
                </a:extLst>
              </a:tr>
              <a:tr h="207541">
                <a:tc rowSpan="4"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hGH[176-191]F176Y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YLRIVQCRSVEGSCGF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Original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55.6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98958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6.4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599664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YLR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QP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[</a:t>
                      </a:r>
                      <a:r>
                        <a:rPr lang="en-US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Chg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][Cha]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EGSCG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81.2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25.6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6.9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257898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YLR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[</a:t>
                      </a:r>
                      <a:r>
                        <a:rPr lang="en-US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Chg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P[</a:t>
                      </a:r>
                      <a:r>
                        <a:rPr lang="en-US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Chg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K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EGSCGF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78.5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22.9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7.1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113278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YL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V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IVQC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[</a:t>
                      </a:r>
                      <a:r>
                        <a:rPr lang="en-US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Nle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]V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[</a:t>
                      </a:r>
                      <a:r>
                        <a:rPr lang="en-US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Nle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GSCGF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Bottom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447275"/>
                  </a:ext>
                </a:extLst>
              </a:tr>
              <a:tr h="207541">
                <a:tc rowSpan="4"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MYC[123-143]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FIKNIIIQDCMWSGFSAAAK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Original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26.2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auto">
                        <a:lnSpc>
                          <a:spcPct val="98958"/>
                        </a:lnSpc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08969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H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KNI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RY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QDCM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N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FSAAAK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52.3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26.1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5.1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506926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K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IKNII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[</a:t>
                      </a:r>
                      <a:r>
                        <a:rPr lang="en-US" sz="1100" b="0" i="0" u="none" strike="noStrike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Aib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]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QDCM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R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</a:t>
                      </a:r>
                      <a:r>
                        <a:rPr lang="en-US" sz="1100" b="0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DQ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SAAAK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Top2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28.9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2.7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5.6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396296"/>
                  </a:ext>
                </a:extLst>
              </a:tr>
              <a:tr h="207541">
                <a:tc vMerge="1">
                  <a:txBody>
                    <a:bodyPr/>
                    <a:lstStyle/>
                    <a:p>
                      <a:endParaRPr lang="it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GB" sz="11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</a:t>
                      </a:r>
                      <a:r>
                        <a:rPr lang="en-GB" sz="1100" b="0" i="0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GB" sz="1100" b="0" i="0" kern="120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Aib</a:t>
                      </a:r>
                      <a:r>
                        <a:rPr lang="en-GB" sz="1100" b="0" i="0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]T</a:t>
                      </a:r>
                      <a:r>
                        <a:rPr lang="en-GB" sz="11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  <a:r>
                        <a:rPr lang="en-GB" sz="1100" b="0" i="0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T[</a:t>
                      </a:r>
                      <a:r>
                        <a:rPr lang="en-GB" sz="1100" b="0" i="0" kern="1200" err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Aib</a:t>
                      </a:r>
                      <a:r>
                        <a:rPr lang="en-GB" sz="1100" b="0" i="0" kern="120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en-GB" sz="11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CMWSGFSAAAK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Bottom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21.9</a:t>
                      </a:r>
                      <a:r>
                        <a:rPr lang="en-US" sz="1100" b="0" i="0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-4.3</a:t>
                      </a:r>
                      <a:r>
                        <a:rPr lang="en-US" sz="1100" b="0" i="0" dirty="0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FFC000"/>
                          </a:solidFill>
                          <a:effectLst/>
                          <a:latin typeface="+mn-lt"/>
                        </a:rPr>
                        <a:t>7.1</a:t>
                      </a:r>
                      <a:r>
                        <a:rPr lang="en-US" sz="1100" b="0" i="0" dirty="0">
                          <a:solidFill>
                            <a:srgbClr val="FFC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 marL="69180" marR="69180" marT="34590" marB="345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029414"/>
                  </a:ext>
                </a:extLst>
              </a:tr>
            </a:tbl>
          </a:graphicData>
        </a:graphic>
      </p:graphicFrame>
      <p:sp>
        <p:nvSpPr>
          <p:cNvPr id="2" name="Titolo 1">
            <a:extLst>
              <a:ext uri="{FF2B5EF4-FFF2-40B4-BE49-F238E27FC236}">
                <a16:creationId xmlns:a16="http://schemas.microsoft.com/office/drawing/2014/main" id="{9E6225C7-A1FA-CF21-2E08-7662B16A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/>
          <a:p>
            <a:r>
              <a:rPr lang="it-GB"/>
              <a:t>Prospective study</a:t>
            </a:r>
          </a:p>
        </p:txBody>
      </p:sp>
      <p:sp>
        <p:nvSpPr>
          <p:cNvPr id="3" name="Sottotitolo 6">
            <a:extLst>
              <a:ext uri="{FF2B5EF4-FFF2-40B4-BE49-F238E27FC236}">
                <a16:creationId xmlns:a16="http://schemas.microsoft.com/office/drawing/2014/main" id="{878B8652-7139-AFF9-A9C2-779D7457713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/>
          <a:p>
            <a:r>
              <a:rPr lang="it-GB"/>
              <a:t>Results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892CE7D9-F443-7219-26E3-3DA76F8D02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8" y="952059"/>
            <a:ext cx="4317405" cy="545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8877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AD9B23-0DE9-981D-58D8-10CBD3670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213" y="5486597"/>
            <a:ext cx="11398499" cy="1828406"/>
          </a:xfrm>
        </p:spPr>
        <p:txBody>
          <a:bodyPr/>
          <a:lstStyle/>
          <a:p>
            <a:r>
              <a:rPr lang="it-IT" sz="3600" b="0"/>
              <a:t>https://</a:t>
            </a:r>
            <a:r>
              <a:rPr lang="it-IT" sz="3600" b="0" err="1"/>
              <a:t>github.com</a:t>
            </a:r>
            <a:r>
              <a:rPr lang="it-IT" sz="3600" b="0"/>
              <a:t>/</a:t>
            </a:r>
            <a:r>
              <a:rPr lang="it-IT" sz="3600" b="0" err="1"/>
              <a:t>rbirolo</a:t>
            </a:r>
            <a:r>
              <a:rPr lang="it-IT" sz="3600" b="0"/>
              <a:t>/IX_technical_turorial2026</a:t>
            </a:r>
            <a:endParaRPr lang="it-GB" sz="3600" b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FAC575C-F0FC-C46B-DE43-150ED09B3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393" y="1864518"/>
            <a:ext cx="2843213" cy="284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46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mperial_PowerPoint_16_9_simplified template" id="{D8CC7F33-2E6C-8544-BE6D-F19926D89FAD}" vid="{8D5E71C1-098D-8F41-9670-B5DB74650D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4BBFDCE9C65C45B257CD4C89E0CC4C" ma:contentTypeVersion="3" ma:contentTypeDescription="Create a new document." ma:contentTypeScope="" ma:versionID="024eea61a99e276f29bb4de829abc010">
  <xsd:schema xmlns:xsd="http://www.w3.org/2001/XMLSchema" xmlns:xs="http://www.w3.org/2001/XMLSchema" xmlns:p="http://schemas.microsoft.com/office/2006/metadata/properties" xmlns:ns2="58ccc919-a085-4c55-a8d0-fc57436857d8" targetNamespace="http://schemas.microsoft.com/office/2006/metadata/properties" ma:root="true" ma:fieldsID="6c52aa458bad14d68220b81cc9789cb2" ns2:_="">
    <xsd:import namespace="58ccc919-a085-4c55-a8d0-fc57436857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ccc919-a085-4c55-a8d0-fc57436857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59E599-68B5-4953-8F9C-18793FD0E5F2}">
  <ds:schemaRefs>
    <ds:schemaRef ds:uri="58ccc919-a085-4c55-a8d0-fc57436857d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7BB4C6-127E-40DB-83D0-BAD626190316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  <ds:schemaRef ds:uri="58ccc919-a085-4c55-a8d0-fc57436857d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BCC2720-3352-404F-8526-0437378EE5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1026</Words>
  <Application>Microsoft Macintosh PowerPoint</Application>
  <PresentationFormat>Widescreen</PresentationFormat>
  <Paragraphs>395</Paragraphs>
  <Slides>13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1" baseType="lpstr">
      <vt:lpstr>Arial</vt:lpstr>
      <vt:lpstr>Arial Narrow</vt:lpstr>
      <vt:lpstr>Bai Jamjuree</vt:lpstr>
      <vt:lpstr>Calibri</vt:lpstr>
      <vt:lpstr>Cambria Math</vt:lpstr>
      <vt:lpstr>Inter Medium</vt:lpstr>
      <vt:lpstr>Wingdings</vt:lpstr>
      <vt:lpstr>ICL PPT Theme</vt:lpstr>
      <vt:lpstr>Multitask and Transfer learning for peptide properties prediction</vt:lpstr>
      <vt:lpstr>Peptide properties prediction</vt:lpstr>
      <vt:lpstr>Peptide properties prediction</vt:lpstr>
      <vt:lpstr>Peptide properties prediction</vt:lpstr>
      <vt:lpstr>Single vs Multi-task</vt:lpstr>
      <vt:lpstr>Chemprop</vt:lpstr>
      <vt:lpstr>Pretraining</vt:lpstr>
      <vt:lpstr>Pretraining</vt:lpstr>
      <vt:lpstr>Other tricks</vt:lpstr>
      <vt:lpstr>Results</vt:lpstr>
      <vt:lpstr>Prospective study</vt:lpstr>
      <vt:lpstr>Prospective study</vt:lpstr>
      <vt:lpstr>https://github.com/rbirolo/IX_technical_turorial2026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Birolo, Rebecca</dc:creator>
  <cp:lastModifiedBy>Birolo, Rebecca</cp:lastModifiedBy>
  <cp:revision>1</cp:revision>
  <dcterms:created xsi:type="dcterms:W3CDTF">2026-09-07T13:45:07Z</dcterms:created>
  <dcterms:modified xsi:type="dcterms:W3CDTF">2026-09-11T16:50:29Z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0x010100A04BBFDCE9C65C45B257CD4C89E0CC4C</vt:lpwstr>
  </property>
  <property fmtid="{D5CDD505-2E9C-101B-9397-08002B2CF9AE}" pid="3" name="MediaServiceImageTags">
    <vt:lpwstr/>
  </property>
</Properties>
</file>